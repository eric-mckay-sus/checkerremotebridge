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handoutMasterIdLst>
    <p:handoutMasterId r:id="rId43"/>
  </p:handoutMasterIdLst>
  <p:sldIdLst>
    <p:sldId id="256" r:id="rId2"/>
    <p:sldId id="2838" r:id="rId3"/>
    <p:sldId id="2839" r:id="rId4"/>
    <p:sldId id="2840" r:id="rId5"/>
    <p:sldId id="2819" r:id="rId6"/>
    <p:sldId id="2837" r:id="rId7"/>
    <p:sldId id="2816" r:id="rId8"/>
    <p:sldId id="2825" r:id="rId9"/>
    <p:sldId id="2841" r:id="rId10"/>
    <p:sldId id="2832" r:id="rId11"/>
    <p:sldId id="2823" r:id="rId12"/>
    <p:sldId id="2833" r:id="rId13"/>
    <p:sldId id="2824" r:id="rId14"/>
    <p:sldId id="2817" r:id="rId15"/>
    <p:sldId id="2830" r:id="rId16"/>
    <p:sldId id="2831" r:id="rId17"/>
    <p:sldId id="2815" r:id="rId18"/>
    <p:sldId id="2842" r:id="rId19"/>
    <p:sldId id="2843" r:id="rId20"/>
    <p:sldId id="2844" r:id="rId21"/>
    <p:sldId id="2847" r:id="rId22"/>
    <p:sldId id="2845" r:id="rId23"/>
    <p:sldId id="2846" r:id="rId24"/>
    <p:sldId id="2848" r:id="rId25"/>
    <p:sldId id="2849" r:id="rId26"/>
    <p:sldId id="2850" r:id="rId27"/>
    <p:sldId id="2851" r:id="rId28"/>
    <p:sldId id="2826" r:id="rId29"/>
    <p:sldId id="2827" r:id="rId30"/>
    <p:sldId id="2835" r:id="rId31"/>
    <p:sldId id="2829" r:id="rId32"/>
    <p:sldId id="2834" r:id="rId33"/>
    <p:sldId id="2807" r:id="rId34"/>
    <p:sldId id="2852" r:id="rId35"/>
    <p:sldId id="2853" r:id="rId36"/>
    <p:sldId id="2808" r:id="rId37"/>
    <p:sldId id="2809" r:id="rId38"/>
    <p:sldId id="2854" r:id="rId39"/>
    <p:sldId id="2813" r:id="rId40"/>
    <p:sldId id="2855"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58B8E18E-EC36-4AAC-804D-309F2D7BACD2}">
          <p14:sldIdLst>
            <p14:sldId id="256"/>
          </p14:sldIdLst>
        </p14:section>
        <p14:section name="Running the program" id="{27FE0756-86A7-41E2-889A-EB8056768D53}">
          <p14:sldIdLst>
            <p14:sldId id="2838"/>
            <p14:sldId id="2839"/>
            <p14:sldId id="2840"/>
          </p14:sldIdLst>
        </p14:section>
        <p14:section name="Summary Section" id="{1092B080-68E4-43C4-A6BB-FC3C4BF79DF6}">
          <p14:sldIdLst>
            <p14:sldId id="2819"/>
            <p14:sldId id="2837"/>
          </p14:sldIdLst>
        </p14:section>
        <p14:section name="Sample creation" id="{E059FA79-F2B9-477F-B036-1CA427A041EF}">
          <p14:sldIdLst>
            <p14:sldId id="2816"/>
            <p14:sldId id="2825"/>
            <p14:sldId id="2841"/>
            <p14:sldId id="2832"/>
            <p14:sldId id="2823"/>
            <p14:sldId id="2833"/>
            <p14:sldId id="2824"/>
          </p14:sldIdLst>
        </p14:section>
        <p14:section name="Model mapping uploader" id="{B3499BAD-9CFD-4299-BDA4-8843225530E5}">
          <p14:sldIdLst>
            <p14:sldId id="2817"/>
            <p14:sldId id="2830"/>
            <p14:sldId id="2831"/>
          </p14:sldIdLst>
        </p14:section>
        <p14:section name="FP data sheet uploader" id="{6CE7CD9C-2386-4479-8C34-F19D2C833D3C}">
          <p14:sldIdLst>
            <p14:sldId id="2815"/>
            <p14:sldId id="2842"/>
            <p14:sldId id="2843"/>
            <p14:sldId id="2844"/>
            <p14:sldId id="2847"/>
            <p14:sldId id="2845"/>
            <p14:sldId id="2846"/>
            <p14:sldId id="2848"/>
            <p14:sldId id="2849"/>
            <p14:sldId id="2850"/>
            <p14:sldId id="2851"/>
          </p14:sldIdLst>
        </p14:section>
        <p14:section name="Sample approval" id="{42B95939-FAA7-477D-80FE-F7E39021B29E}">
          <p14:sldIdLst>
            <p14:sldId id="2826"/>
            <p14:sldId id="2827"/>
            <p14:sldId id="2835"/>
            <p14:sldId id="2829"/>
            <p14:sldId id="2834"/>
          </p14:sldIdLst>
        </p14:section>
        <p14:section name="Request remake" id="{7953E210-EE80-43B6-973A-E207864F8870}">
          <p14:sldIdLst>
            <p14:sldId id="2807"/>
            <p14:sldId id="2852"/>
            <p14:sldId id="2853"/>
          </p14:sldIdLst>
        </p14:section>
        <p14:section name="Approve remake" id="{DEBDD3AD-F905-4B0A-9564-424548853C8B}">
          <p14:sldIdLst>
            <p14:sldId id="2808"/>
            <p14:sldId id="2809"/>
            <p14:sldId id="2854"/>
            <p14:sldId id="2813"/>
            <p14:sldId id="285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6322"/>
    <a:srgbClr val="CCCC00"/>
    <a:srgbClr val="BF2115"/>
    <a:srgbClr val="8C14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94660" autoAdjust="0"/>
  </p:normalViewPr>
  <p:slideViewPr>
    <p:cSldViewPr snapToGrid="0">
      <p:cViewPr varScale="1">
        <p:scale>
          <a:sx n="102" d="100"/>
          <a:sy n="102" d="100"/>
        </p:scale>
        <p:origin x="1032" y="10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82" d="100"/>
          <a:sy n="82" d="100"/>
        </p:scale>
        <p:origin x="3876"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997AE69-42FD-B3B2-8FFF-7E3FC9E711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177531-5751-3BAD-99D6-105B38BA452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9713A4B-B321-4E6A-8CBC-68B66D45B9D5}" type="datetimeFigureOut">
              <a:rPr lang="en-US" smtClean="0"/>
              <a:t>8/5/2026</a:t>
            </a:fld>
            <a:endParaRPr lang="en-US"/>
          </a:p>
        </p:txBody>
      </p:sp>
      <p:sp>
        <p:nvSpPr>
          <p:cNvPr id="4" name="Footer Placeholder 3">
            <a:extLst>
              <a:ext uri="{FF2B5EF4-FFF2-40B4-BE49-F238E27FC236}">
                <a16:creationId xmlns:a16="http://schemas.microsoft.com/office/drawing/2014/main" id="{55344172-C44D-55EB-DA19-602C82F58C8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7D24FDD-B29E-F55F-EB33-CD6E476111A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CF4A47F-2EAE-40D6-A76D-7F39FE6A5023}" type="slidenum">
              <a:rPr lang="en-US" smtClean="0"/>
              <a:t>‹#›</a:t>
            </a:fld>
            <a:endParaRPr lang="en-US"/>
          </a:p>
        </p:txBody>
      </p:sp>
    </p:spTree>
    <p:extLst>
      <p:ext uri="{BB962C8B-B14F-4D97-AF65-F5344CB8AC3E}">
        <p14:creationId xmlns:p14="http://schemas.microsoft.com/office/powerpoint/2010/main" val="5359478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90DC49-5E56-4663-BD73-6254BEC8D958}" type="datetimeFigureOut">
              <a:rPr lang="en-US" smtClean="0"/>
              <a:t>8/5/2026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1CF8D7-B076-43C3-BFB0-F1A9323A501F}" type="slidenum">
              <a:rPr lang="en-US" smtClean="0"/>
              <a:t>‹#›</a:t>
            </a:fld>
            <a:endParaRPr lang="en-US"/>
          </a:p>
        </p:txBody>
      </p:sp>
    </p:spTree>
    <p:extLst>
      <p:ext uri="{BB962C8B-B14F-4D97-AF65-F5344CB8AC3E}">
        <p14:creationId xmlns:p14="http://schemas.microsoft.com/office/powerpoint/2010/main" val="3413909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1CF8D7-B076-43C3-BFB0-F1A9323A501F}" type="slidenum">
              <a:rPr lang="en-US" smtClean="0"/>
              <a:t>28</a:t>
            </a:fld>
            <a:endParaRPr lang="en-US"/>
          </a:p>
        </p:txBody>
      </p:sp>
    </p:spTree>
    <p:extLst>
      <p:ext uri="{BB962C8B-B14F-4D97-AF65-F5344CB8AC3E}">
        <p14:creationId xmlns:p14="http://schemas.microsoft.com/office/powerpoint/2010/main" val="3905212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1CF8D7-B076-43C3-BFB0-F1A9323A501F}" type="slidenum">
              <a:rPr lang="en-US" smtClean="0"/>
              <a:t>30</a:t>
            </a:fld>
            <a:endParaRPr lang="en-US"/>
          </a:p>
        </p:txBody>
      </p:sp>
    </p:spTree>
    <p:extLst>
      <p:ext uri="{BB962C8B-B14F-4D97-AF65-F5344CB8AC3E}">
        <p14:creationId xmlns:p14="http://schemas.microsoft.com/office/powerpoint/2010/main" val="3686020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1CF8D7-B076-43C3-BFB0-F1A9323A501F}" type="slidenum">
              <a:rPr lang="en-US" smtClean="0"/>
              <a:t>39</a:t>
            </a:fld>
            <a:endParaRPr lang="en-US"/>
          </a:p>
        </p:txBody>
      </p:sp>
    </p:spTree>
    <p:extLst>
      <p:ext uri="{BB962C8B-B14F-4D97-AF65-F5344CB8AC3E}">
        <p14:creationId xmlns:p14="http://schemas.microsoft.com/office/powerpoint/2010/main" val="37677278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DAB00-FE5C-01EC-128B-09986F3A3B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A4AD22-53CD-F277-0595-BFDB4D510A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204820-CE0E-2CCD-58D3-1815159A47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163CEC-D599-6BEB-99C2-789E3476A950}"/>
              </a:ext>
            </a:extLst>
          </p:cNvPr>
          <p:cNvSpPr>
            <a:spLocks noGrp="1"/>
          </p:cNvSpPr>
          <p:nvPr>
            <p:ph type="sldNum" sz="quarter" idx="5"/>
          </p:nvPr>
        </p:nvSpPr>
        <p:spPr/>
        <p:txBody>
          <a:bodyPr/>
          <a:lstStyle/>
          <a:p>
            <a:fld id="{F91CF8D7-B076-43C3-BFB0-F1A9323A501F}" type="slidenum">
              <a:rPr lang="en-US" smtClean="0"/>
              <a:t>40</a:t>
            </a:fld>
            <a:endParaRPr lang="en-US"/>
          </a:p>
        </p:txBody>
      </p:sp>
    </p:spTree>
    <p:extLst>
      <p:ext uri="{BB962C8B-B14F-4D97-AF65-F5344CB8AC3E}">
        <p14:creationId xmlns:p14="http://schemas.microsoft.com/office/powerpoint/2010/main" val="26948684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DE8C5-5A19-1B96-306F-6AF4828079D8}"/>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6417C461-4C20-8869-871E-B5400B8B68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0DB8A82-4B3C-32AF-60E6-F823D0730AB5}"/>
              </a:ext>
            </a:extLst>
          </p:cNvPr>
          <p:cNvSpPr>
            <a:spLocks noGrp="1"/>
          </p:cNvSpPr>
          <p:nvPr>
            <p:ph type="dt" sz="half" idx="10"/>
          </p:nvPr>
        </p:nvSpPr>
        <p:spPr/>
        <p:txBody>
          <a:bodyPr/>
          <a:lstStyle/>
          <a:p>
            <a:fld id="{059A6F5A-3024-43F4-A20E-288FCAB0A2E6}" type="datetimeFigureOut">
              <a:rPr lang="en-US" smtClean="0"/>
              <a:t>8/5/2026</a:t>
            </a:fld>
            <a:endParaRPr lang="en-US"/>
          </a:p>
        </p:txBody>
      </p:sp>
      <p:sp>
        <p:nvSpPr>
          <p:cNvPr id="5" name="Footer Placeholder 4">
            <a:extLst>
              <a:ext uri="{FF2B5EF4-FFF2-40B4-BE49-F238E27FC236}">
                <a16:creationId xmlns:a16="http://schemas.microsoft.com/office/drawing/2014/main" id="{30F5C46B-E48E-DF20-B602-DE88FB206A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EE5743-8524-0603-1138-452F41FC4FCA}"/>
              </a:ext>
            </a:extLst>
          </p:cNvPr>
          <p:cNvSpPr>
            <a:spLocks noGrp="1"/>
          </p:cNvSpPr>
          <p:nvPr>
            <p:ph type="sldNum" sz="quarter" idx="12"/>
          </p:nvPr>
        </p:nvSpPr>
        <p:spPr/>
        <p:txBody>
          <a:bodyPr/>
          <a:lstStyle/>
          <a:p>
            <a:fld id="{23BA0818-09BC-4CB6-A333-E22D8F286151}" type="slidenum">
              <a:rPr lang="en-US" smtClean="0"/>
              <a:t>‹#›</a:t>
            </a:fld>
            <a:endParaRPr lang="en-US"/>
          </a:p>
        </p:txBody>
      </p:sp>
    </p:spTree>
    <p:extLst>
      <p:ext uri="{BB962C8B-B14F-4D97-AF65-F5344CB8AC3E}">
        <p14:creationId xmlns:p14="http://schemas.microsoft.com/office/powerpoint/2010/main" val="1565571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16E11-5F87-4491-6D5C-528520CB0B3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4D757C95-6675-FF55-36AE-5EEA423139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B47A78-ED9B-C900-C4FD-30005FE2D7BC}"/>
              </a:ext>
            </a:extLst>
          </p:cNvPr>
          <p:cNvSpPr>
            <a:spLocks noGrp="1"/>
          </p:cNvSpPr>
          <p:nvPr>
            <p:ph type="dt" sz="half" idx="10"/>
          </p:nvPr>
        </p:nvSpPr>
        <p:spPr/>
        <p:txBody>
          <a:bodyPr/>
          <a:lstStyle/>
          <a:p>
            <a:fld id="{059A6F5A-3024-43F4-A20E-288FCAB0A2E6}" type="datetimeFigureOut">
              <a:rPr lang="en-US" smtClean="0"/>
              <a:t>8/5/2026</a:t>
            </a:fld>
            <a:endParaRPr lang="en-US"/>
          </a:p>
        </p:txBody>
      </p:sp>
      <p:sp>
        <p:nvSpPr>
          <p:cNvPr id="5" name="Footer Placeholder 4">
            <a:extLst>
              <a:ext uri="{FF2B5EF4-FFF2-40B4-BE49-F238E27FC236}">
                <a16:creationId xmlns:a16="http://schemas.microsoft.com/office/drawing/2014/main" id="{7646315F-B814-DC5F-E961-BDECA1CDED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096B70-B5B5-D316-E181-C9CD968FD65F}"/>
              </a:ext>
            </a:extLst>
          </p:cNvPr>
          <p:cNvSpPr>
            <a:spLocks noGrp="1"/>
          </p:cNvSpPr>
          <p:nvPr>
            <p:ph type="sldNum" sz="quarter" idx="12"/>
          </p:nvPr>
        </p:nvSpPr>
        <p:spPr/>
        <p:txBody>
          <a:bodyPr/>
          <a:lstStyle/>
          <a:p>
            <a:fld id="{23BA0818-09BC-4CB6-A333-E22D8F286151}" type="slidenum">
              <a:rPr lang="en-US" smtClean="0"/>
              <a:t>‹#›</a:t>
            </a:fld>
            <a:endParaRPr lang="en-US"/>
          </a:p>
        </p:txBody>
      </p:sp>
    </p:spTree>
    <p:extLst>
      <p:ext uri="{BB962C8B-B14F-4D97-AF65-F5344CB8AC3E}">
        <p14:creationId xmlns:p14="http://schemas.microsoft.com/office/powerpoint/2010/main" val="2732456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1592D-531C-BD44-A180-1BE6F1D42F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DB949A-9177-A81A-184B-60B55571C7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4CA427-B909-832B-C2C0-C58F094E28B6}"/>
              </a:ext>
            </a:extLst>
          </p:cNvPr>
          <p:cNvSpPr>
            <a:spLocks noGrp="1"/>
          </p:cNvSpPr>
          <p:nvPr>
            <p:ph type="dt" sz="half" idx="10"/>
          </p:nvPr>
        </p:nvSpPr>
        <p:spPr/>
        <p:txBody>
          <a:bodyPr/>
          <a:lstStyle/>
          <a:p>
            <a:fld id="{059A6F5A-3024-43F4-A20E-288FCAB0A2E6}" type="datetimeFigureOut">
              <a:rPr lang="en-US" smtClean="0"/>
              <a:t>8/5/2026</a:t>
            </a:fld>
            <a:endParaRPr lang="en-US"/>
          </a:p>
        </p:txBody>
      </p:sp>
      <p:sp>
        <p:nvSpPr>
          <p:cNvPr id="5" name="Footer Placeholder 4">
            <a:extLst>
              <a:ext uri="{FF2B5EF4-FFF2-40B4-BE49-F238E27FC236}">
                <a16:creationId xmlns:a16="http://schemas.microsoft.com/office/drawing/2014/main" id="{0B1ADC22-5746-E4D2-084B-217209051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5A3203-E1C1-83C0-A787-4E04DD26161E}"/>
              </a:ext>
            </a:extLst>
          </p:cNvPr>
          <p:cNvSpPr>
            <a:spLocks noGrp="1"/>
          </p:cNvSpPr>
          <p:nvPr>
            <p:ph type="sldNum" sz="quarter" idx="12"/>
          </p:nvPr>
        </p:nvSpPr>
        <p:spPr/>
        <p:txBody>
          <a:bodyPr/>
          <a:lstStyle/>
          <a:p>
            <a:fld id="{23BA0818-09BC-4CB6-A333-E22D8F286151}" type="slidenum">
              <a:rPr lang="en-US" smtClean="0"/>
              <a:t>‹#›</a:t>
            </a:fld>
            <a:endParaRPr lang="en-US"/>
          </a:p>
        </p:txBody>
      </p:sp>
    </p:spTree>
    <p:extLst>
      <p:ext uri="{BB962C8B-B14F-4D97-AF65-F5344CB8AC3E}">
        <p14:creationId xmlns:p14="http://schemas.microsoft.com/office/powerpoint/2010/main" val="1177002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29DE8-3598-89F6-89E0-A4AB4A0E2E1E}"/>
              </a:ext>
            </a:extLst>
          </p:cNvPr>
          <p:cNvSpPr>
            <a:spLocks noGrp="1"/>
          </p:cNvSpPr>
          <p:nvPr>
            <p:ph type="title"/>
          </p:nvPr>
        </p:nvSpPr>
        <p:spPr>
          <a:xfrm>
            <a:off x="2603242" y="225156"/>
            <a:ext cx="7007289" cy="679904"/>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C6B4742-6A63-D0FF-168E-45D01BDC45CF}"/>
              </a:ext>
            </a:extLst>
          </p:cNvPr>
          <p:cNvSpPr>
            <a:spLocks noGrp="1"/>
          </p:cNvSpPr>
          <p:nvPr>
            <p:ph sz="half" idx="1"/>
          </p:nvPr>
        </p:nvSpPr>
        <p:spPr>
          <a:xfrm>
            <a:off x="289249" y="933061"/>
            <a:ext cx="5187820" cy="52439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B496B563-378E-3C17-C501-1A3FD85C9DA1}"/>
              </a:ext>
            </a:extLst>
          </p:cNvPr>
          <p:cNvSpPr>
            <a:spLocks noGrp="1"/>
          </p:cNvSpPr>
          <p:nvPr>
            <p:ph sz="half" idx="2"/>
          </p:nvPr>
        </p:nvSpPr>
        <p:spPr>
          <a:xfrm>
            <a:off x="5623249" y="933061"/>
            <a:ext cx="6040016" cy="52439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37F973-CB61-47FC-CA63-982F96A5D49C}"/>
              </a:ext>
            </a:extLst>
          </p:cNvPr>
          <p:cNvSpPr>
            <a:spLocks noGrp="1"/>
          </p:cNvSpPr>
          <p:nvPr>
            <p:ph type="dt" sz="half" idx="10"/>
          </p:nvPr>
        </p:nvSpPr>
        <p:spPr/>
        <p:txBody>
          <a:bodyPr/>
          <a:lstStyle/>
          <a:p>
            <a:fld id="{059A6F5A-3024-43F4-A20E-288FCAB0A2E6}" type="datetimeFigureOut">
              <a:rPr lang="en-US" smtClean="0"/>
              <a:t>8/5/2026</a:t>
            </a:fld>
            <a:endParaRPr lang="en-US"/>
          </a:p>
        </p:txBody>
      </p:sp>
      <p:sp>
        <p:nvSpPr>
          <p:cNvPr id="6" name="Footer Placeholder 5">
            <a:extLst>
              <a:ext uri="{FF2B5EF4-FFF2-40B4-BE49-F238E27FC236}">
                <a16:creationId xmlns:a16="http://schemas.microsoft.com/office/drawing/2014/main" id="{1C8760D3-C39F-4961-3DC7-3CCD27F0B4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4141F6-A0BF-1909-79DC-940586CFA8EF}"/>
              </a:ext>
            </a:extLst>
          </p:cNvPr>
          <p:cNvSpPr>
            <a:spLocks noGrp="1"/>
          </p:cNvSpPr>
          <p:nvPr>
            <p:ph type="sldNum" sz="quarter" idx="12"/>
          </p:nvPr>
        </p:nvSpPr>
        <p:spPr/>
        <p:txBody>
          <a:bodyPr/>
          <a:lstStyle/>
          <a:p>
            <a:fld id="{23BA0818-09BC-4CB6-A333-E22D8F286151}" type="slidenum">
              <a:rPr lang="en-US" smtClean="0"/>
              <a:t>‹#›</a:t>
            </a:fld>
            <a:endParaRPr lang="en-US"/>
          </a:p>
        </p:txBody>
      </p:sp>
    </p:spTree>
    <p:extLst>
      <p:ext uri="{BB962C8B-B14F-4D97-AF65-F5344CB8AC3E}">
        <p14:creationId xmlns:p14="http://schemas.microsoft.com/office/powerpoint/2010/main" val="288628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70835-AF5A-3D95-BDDE-D26D8AE4C4A6}"/>
              </a:ext>
            </a:extLst>
          </p:cNvPr>
          <p:cNvSpPr>
            <a:spLocks noGrp="1"/>
          </p:cNvSpPr>
          <p:nvPr>
            <p:ph type="title"/>
          </p:nvPr>
        </p:nvSpPr>
        <p:spPr>
          <a:xfrm>
            <a:off x="1716834" y="215838"/>
            <a:ext cx="8780106" cy="82391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A9D79718-38B4-3C4B-257A-4DE3C7AD9341}"/>
              </a:ext>
            </a:extLst>
          </p:cNvPr>
          <p:cNvSpPr>
            <a:spLocks noGrp="1"/>
          </p:cNvSpPr>
          <p:nvPr>
            <p:ph type="body" idx="1"/>
          </p:nvPr>
        </p:nvSpPr>
        <p:spPr>
          <a:xfrm>
            <a:off x="261258" y="813416"/>
            <a:ext cx="5736318" cy="502200"/>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918D50-72EA-330C-8E10-361E0DAFE171}"/>
              </a:ext>
            </a:extLst>
          </p:cNvPr>
          <p:cNvSpPr>
            <a:spLocks noGrp="1"/>
          </p:cNvSpPr>
          <p:nvPr>
            <p:ph sz="half" idx="2"/>
          </p:nvPr>
        </p:nvSpPr>
        <p:spPr>
          <a:xfrm>
            <a:off x="261258" y="1315615"/>
            <a:ext cx="5736318" cy="48612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67128F8-B2FF-B714-D95F-8781E76D4729}"/>
              </a:ext>
            </a:extLst>
          </p:cNvPr>
          <p:cNvSpPr>
            <a:spLocks noGrp="1"/>
          </p:cNvSpPr>
          <p:nvPr>
            <p:ph type="body" sz="quarter" idx="3"/>
          </p:nvPr>
        </p:nvSpPr>
        <p:spPr>
          <a:xfrm>
            <a:off x="6172199" y="813416"/>
            <a:ext cx="5612363" cy="502200"/>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B73D32-9F8F-7514-7E26-AF0D8754CB18}"/>
              </a:ext>
            </a:extLst>
          </p:cNvPr>
          <p:cNvSpPr>
            <a:spLocks noGrp="1"/>
          </p:cNvSpPr>
          <p:nvPr>
            <p:ph sz="quarter" idx="4"/>
          </p:nvPr>
        </p:nvSpPr>
        <p:spPr>
          <a:xfrm>
            <a:off x="6194426" y="1315614"/>
            <a:ext cx="5612363" cy="48612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19DA126-B99B-A1CF-ABCC-AFAB89F3595E}"/>
              </a:ext>
            </a:extLst>
          </p:cNvPr>
          <p:cNvSpPr>
            <a:spLocks noGrp="1"/>
          </p:cNvSpPr>
          <p:nvPr>
            <p:ph type="dt" sz="half" idx="10"/>
          </p:nvPr>
        </p:nvSpPr>
        <p:spPr/>
        <p:txBody>
          <a:bodyPr/>
          <a:lstStyle/>
          <a:p>
            <a:fld id="{059A6F5A-3024-43F4-A20E-288FCAB0A2E6}" type="datetimeFigureOut">
              <a:rPr lang="en-US" smtClean="0"/>
              <a:t>8/5/2026</a:t>
            </a:fld>
            <a:endParaRPr lang="en-US"/>
          </a:p>
        </p:txBody>
      </p:sp>
      <p:sp>
        <p:nvSpPr>
          <p:cNvPr id="8" name="Footer Placeholder 7">
            <a:extLst>
              <a:ext uri="{FF2B5EF4-FFF2-40B4-BE49-F238E27FC236}">
                <a16:creationId xmlns:a16="http://schemas.microsoft.com/office/drawing/2014/main" id="{B402FC3B-F495-1301-4445-3ABC36D916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060DA4-40D9-55F9-56FE-D5D821C4F2D9}"/>
              </a:ext>
            </a:extLst>
          </p:cNvPr>
          <p:cNvSpPr>
            <a:spLocks noGrp="1"/>
          </p:cNvSpPr>
          <p:nvPr>
            <p:ph type="sldNum" sz="quarter" idx="12"/>
          </p:nvPr>
        </p:nvSpPr>
        <p:spPr/>
        <p:txBody>
          <a:bodyPr/>
          <a:lstStyle/>
          <a:p>
            <a:fld id="{23BA0818-09BC-4CB6-A333-E22D8F286151}" type="slidenum">
              <a:rPr lang="en-US" smtClean="0"/>
              <a:t>‹#›</a:t>
            </a:fld>
            <a:endParaRPr lang="en-US"/>
          </a:p>
        </p:txBody>
      </p:sp>
    </p:spTree>
    <p:extLst>
      <p:ext uri="{BB962C8B-B14F-4D97-AF65-F5344CB8AC3E}">
        <p14:creationId xmlns:p14="http://schemas.microsoft.com/office/powerpoint/2010/main" val="51799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BFFF8-AD45-9480-41DC-551DBE82D5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EF5916-BF3C-CC0D-309B-70371AA2F620}"/>
              </a:ext>
            </a:extLst>
          </p:cNvPr>
          <p:cNvSpPr>
            <a:spLocks noGrp="1"/>
          </p:cNvSpPr>
          <p:nvPr>
            <p:ph type="dt" sz="half" idx="10"/>
          </p:nvPr>
        </p:nvSpPr>
        <p:spPr/>
        <p:txBody>
          <a:bodyPr/>
          <a:lstStyle/>
          <a:p>
            <a:fld id="{059A6F5A-3024-43F4-A20E-288FCAB0A2E6}" type="datetimeFigureOut">
              <a:rPr lang="en-US" smtClean="0"/>
              <a:t>8/5/2026</a:t>
            </a:fld>
            <a:endParaRPr lang="en-US"/>
          </a:p>
        </p:txBody>
      </p:sp>
      <p:sp>
        <p:nvSpPr>
          <p:cNvPr id="4" name="Footer Placeholder 3">
            <a:extLst>
              <a:ext uri="{FF2B5EF4-FFF2-40B4-BE49-F238E27FC236}">
                <a16:creationId xmlns:a16="http://schemas.microsoft.com/office/drawing/2014/main" id="{082996AB-E27F-CDD2-51BD-9F075E5CB4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6F9E74-68F7-DBF7-BF1E-DEAE8CC018D5}"/>
              </a:ext>
            </a:extLst>
          </p:cNvPr>
          <p:cNvSpPr>
            <a:spLocks noGrp="1"/>
          </p:cNvSpPr>
          <p:nvPr>
            <p:ph type="sldNum" sz="quarter" idx="12"/>
          </p:nvPr>
        </p:nvSpPr>
        <p:spPr/>
        <p:txBody>
          <a:bodyPr/>
          <a:lstStyle/>
          <a:p>
            <a:fld id="{23BA0818-09BC-4CB6-A333-E22D8F286151}" type="slidenum">
              <a:rPr lang="en-US" smtClean="0"/>
              <a:t>‹#›</a:t>
            </a:fld>
            <a:endParaRPr lang="en-US"/>
          </a:p>
        </p:txBody>
      </p:sp>
      <p:sp>
        <p:nvSpPr>
          <p:cNvPr id="15" name="Picture Placeholder 14">
            <a:extLst>
              <a:ext uri="{FF2B5EF4-FFF2-40B4-BE49-F238E27FC236}">
                <a16:creationId xmlns:a16="http://schemas.microsoft.com/office/drawing/2014/main" id="{BA1A8039-3853-1B57-CEC2-9744CD5727D0}"/>
              </a:ext>
            </a:extLst>
          </p:cNvPr>
          <p:cNvSpPr>
            <a:spLocks noGrp="1"/>
          </p:cNvSpPr>
          <p:nvPr>
            <p:ph type="pic" sz="quarter" idx="13"/>
          </p:nvPr>
        </p:nvSpPr>
        <p:spPr>
          <a:xfrm>
            <a:off x="434975" y="988743"/>
            <a:ext cx="2695772" cy="2142773"/>
          </a:xfrm>
          <a:custGeom>
            <a:avLst/>
            <a:gdLst>
              <a:gd name="connsiteX0" fmla="*/ 535694 w 2695772"/>
              <a:gd name="connsiteY0" fmla="*/ 0 h 2142773"/>
              <a:gd name="connsiteX1" fmla="*/ 2160080 w 2695772"/>
              <a:gd name="connsiteY1" fmla="*/ 0 h 2142773"/>
              <a:gd name="connsiteX2" fmla="*/ 2695772 w 2695772"/>
              <a:gd name="connsiteY2" fmla="*/ 1071386 h 2142773"/>
              <a:gd name="connsiteX3" fmla="*/ 2160079 w 2695772"/>
              <a:gd name="connsiteY3" fmla="*/ 2142773 h 2142773"/>
              <a:gd name="connsiteX4" fmla="*/ 535694 w 2695772"/>
              <a:gd name="connsiteY4" fmla="*/ 2142773 h 2142773"/>
              <a:gd name="connsiteX5" fmla="*/ 0 w 2695772"/>
              <a:gd name="connsiteY5" fmla="*/ 1071386 h 2142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5772" h="2142773">
                <a:moveTo>
                  <a:pt x="535694" y="0"/>
                </a:moveTo>
                <a:lnTo>
                  <a:pt x="2160080" y="0"/>
                </a:lnTo>
                <a:lnTo>
                  <a:pt x="2695772" y="1071386"/>
                </a:lnTo>
                <a:lnTo>
                  <a:pt x="2160079" y="2142773"/>
                </a:lnTo>
                <a:lnTo>
                  <a:pt x="535694" y="2142773"/>
                </a:lnTo>
                <a:lnTo>
                  <a:pt x="0" y="1071386"/>
                </a:lnTo>
                <a:close/>
              </a:path>
            </a:pathLst>
          </a:custGeom>
        </p:spPr>
        <p:txBody>
          <a:bodyPr wrap="square">
            <a:noAutofit/>
          </a:bodyPr>
          <a:lstStyle/>
          <a:p>
            <a:r>
              <a:rPr lang="en-US"/>
              <a:t>Click icon to add picture</a:t>
            </a:r>
          </a:p>
        </p:txBody>
      </p:sp>
      <p:sp>
        <p:nvSpPr>
          <p:cNvPr id="11" name="Text Placeholder 10">
            <a:extLst>
              <a:ext uri="{FF2B5EF4-FFF2-40B4-BE49-F238E27FC236}">
                <a16:creationId xmlns:a16="http://schemas.microsoft.com/office/drawing/2014/main" id="{8C70CC3A-52A8-9373-EB87-CCECF48BFC0B}"/>
              </a:ext>
            </a:extLst>
          </p:cNvPr>
          <p:cNvSpPr>
            <a:spLocks noGrp="1"/>
          </p:cNvSpPr>
          <p:nvPr>
            <p:ph type="body" sz="quarter" idx="14"/>
          </p:nvPr>
        </p:nvSpPr>
        <p:spPr>
          <a:xfrm>
            <a:off x="6708710" y="911379"/>
            <a:ext cx="5048315" cy="52934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5">
            <a:extLst>
              <a:ext uri="{FF2B5EF4-FFF2-40B4-BE49-F238E27FC236}">
                <a16:creationId xmlns:a16="http://schemas.microsoft.com/office/drawing/2014/main" id="{E27E389A-46CB-1C2E-6356-93E609ADA8CB}"/>
              </a:ext>
            </a:extLst>
          </p:cNvPr>
          <p:cNvSpPr>
            <a:spLocks noGrp="1"/>
          </p:cNvSpPr>
          <p:nvPr>
            <p:ph type="pic" sz="quarter" idx="15"/>
          </p:nvPr>
        </p:nvSpPr>
        <p:spPr>
          <a:xfrm>
            <a:off x="2696096" y="2153439"/>
            <a:ext cx="2695772" cy="2142773"/>
          </a:xfrm>
          <a:custGeom>
            <a:avLst/>
            <a:gdLst>
              <a:gd name="connsiteX0" fmla="*/ 535694 w 2695772"/>
              <a:gd name="connsiteY0" fmla="*/ 0 h 2142773"/>
              <a:gd name="connsiteX1" fmla="*/ 2160080 w 2695772"/>
              <a:gd name="connsiteY1" fmla="*/ 0 h 2142773"/>
              <a:gd name="connsiteX2" fmla="*/ 2695772 w 2695772"/>
              <a:gd name="connsiteY2" fmla="*/ 1071386 h 2142773"/>
              <a:gd name="connsiteX3" fmla="*/ 2160079 w 2695772"/>
              <a:gd name="connsiteY3" fmla="*/ 2142773 h 2142773"/>
              <a:gd name="connsiteX4" fmla="*/ 535694 w 2695772"/>
              <a:gd name="connsiteY4" fmla="*/ 2142773 h 2142773"/>
              <a:gd name="connsiteX5" fmla="*/ 0 w 2695772"/>
              <a:gd name="connsiteY5" fmla="*/ 1071386 h 2142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5772" h="2142773">
                <a:moveTo>
                  <a:pt x="535694" y="0"/>
                </a:moveTo>
                <a:lnTo>
                  <a:pt x="2160080" y="0"/>
                </a:lnTo>
                <a:lnTo>
                  <a:pt x="2695772" y="1071386"/>
                </a:lnTo>
                <a:lnTo>
                  <a:pt x="2160079" y="2142773"/>
                </a:lnTo>
                <a:lnTo>
                  <a:pt x="535694" y="2142773"/>
                </a:lnTo>
                <a:lnTo>
                  <a:pt x="0" y="1071386"/>
                </a:lnTo>
                <a:close/>
              </a:path>
            </a:pathLst>
          </a:custGeom>
        </p:spPr>
        <p:txBody>
          <a:bodyPr wrap="square">
            <a:noAutofit/>
          </a:bodyPr>
          <a:lstStyle/>
          <a:p>
            <a:r>
              <a:rPr lang="en-US"/>
              <a:t>Click icon to add picture</a:t>
            </a:r>
          </a:p>
        </p:txBody>
      </p:sp>
      <p:sp>
        <p:nvSpPr>
          <p:cNvPr id="17" name="Picture Placeholder 16">
            <a:extLst>
              <a:ext uri="{FF2B5EF4-FFF2-40B4-BE49-F238E27FC236}">
                <a16:creationId xmlns:a16="http://schemas.microsoft.com/office/drawing/2014/main" id="{E76D0469-9CB9-705F-ADF6-9365FC7886F0}"/>
              </a:ext>
            </a:extLst>
          </p:cNvPr>
          <p:cNvSpPr>
            <a:spLocks noGrp="1"/>
          </p:cNvSpPr>
          <p:nvPr>
            <p:ph type="pic" sz="quarter" idx="16"/>
          </p:nvPr>
        </p:nvSpPr>
        <p:spPr>
          <a:xfrm>
            <a:off x="388320" y="3261556"/>
            <a:ext cx="2695772" cy="2142773"/>
          </a:xfrm>
          <a:custGeom>
            <a:avLst/>
            <a:gdLst>
              <a:gd name="connsiteX0" fmla="*/ 535694 w 2695772"/>
              <a:gd name="connsiteY0" fmla="*/ 0 h 2142773"/>
              <a:gd name="connsiteX1" fmla="*/ 2160080 w 2695772"/>
              <a:gd name="connsiteY1" fmla="*/ 0 h 2142773"/>
              <a:gd name="connsiteX2" fmla="*/ 2695772 w 2695772"/>
              <a:gd name="connsiteY2" fmla="*/ 1071386 h 2142773"/>
              <a:gd name="connsiteX3" fmla="*/ 2160079 w 2695772"/>
              <a:gd name="connsiteY3" fmla="*/ 2142773 h 2142773"/>
              <a:gd name="connsiteX4" fmla="*/ 535694 w 2695772"/>
              <a:gd name="connsiteY4" fmla="*/ 2142773 h 2142773"/>
              <a:gd name="connsiteX5" fmla="*/ 0 w 2695772"/>
              <a:gd name="connsiteY5" fmla="*/ 1071386 h 2142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5772" h="2142773">
                <a:moveTo>
                  <a:pt x="535694" y="0"/>
                </a:moveTo>
                <a:lnTo>
                  <a:pt x="2160080" y="0"/>
                </a:lnTo>
                <a:lnTo>
                  <a:pt x="2695772" y="1071386"/>
                </a:lnTo>
                <a:lnTo>
                  <a:pt x="2160079" y="2142773"/>
                </a:lnTo>
                <a:lnTo>
                  <a:pt x="535694" y="2142773"/>
                </a:lnTo>
                <a:lnTo>
                  <a:pt x="0" y="1071386"/>
                </a:lnTo>
                <a:close/>
              </a:path>
            </a:pathLst>
          </a:custGeom>
        </p:spPr>
        <p:txBody>
          <a:bodyPr wrap="square">
            <a:noAutofit/>
          </a:bodyPr>
          <a:lstStyle/>
          <a:p>
            <a:r>
              <a:rPr lang="en-US"/>
              <a:t>Click icon to add picture</a:t>
            </a:r>
          </a:p>
        </p:txBody>
      </p:sp>
    </p:spTree>
    <p:extLst>
      <p:ext uri="{BB962C8B-B14F-4D97-AF65-F5344CB8AC3E}">
        <p14:creationId xmlns:p14="http://schemas.microsoft.com/office/powerpoint/2010/main" val="218505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E5D8B-754D-04A1-62D4-E00DE75668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A9CD3E-2ED7-A31B-42BA-2BF3DE2042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B18C08-8E1C-0D34-394D-FAB4F50BFA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C58DDE-6A55-5071-14AB-45BAFFC2B6C6}"/>
              </a:ext>
            </a:extLst>
          </p:cNvPr>
          <p:cNvSpPr>
            <a:spLocks noGrp="1"/>
          </p:cNvSpPr>
          <p:nvPr>
            <p:ph type="dt" sz="half" idx="10"/>
          </p:nvPr>
        </p:nvSpPr>
        <p:spPr/>
        <p:txBody>
          <a:bodyPr/>
          <a:lstStyle/>
          <a:p>
            <a:fld id="{059A6F5A-3024-43F4-A20E-288FCAB0A2E6}" type="datetimeFigureOut">
              <a:rPr lang="en-US" smtClean="0"/>
              <a:t>8/5/2026</a:t>
            </a:fld>
            <a:endParaRPr lang="en-US"/>
          </a:p>
        </p:txBody>
      </p:sp>
      <p:sp>
        <p:nvSpPr>
          <p:cNvPr id="6" name="Footer Placeholder 5">
            <a:extLst>
              <a:ext uri="{FF2B5EF4-FFF2-40B4-BE49-F238E27FC236}">
                <a16:creationId xmlns:a16="http://schemas.microsoft.com/office/drawing/2014/main" id="{AB03DBAC-025A-E3A5-0160-13A4917649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592EB1-24D7-2ED0-FF10-A17143986C34}"/>
              </a:ext>
            </a:extLst>
          </p:cNvPr>
          <p:cNvSpPr>
            <a:spLocks noGrp="1"/>
          </p:cNvSpPr>
          <p:nvPr>
            <p:ph type="sldNum" sz="quarter" idx="12"/>
          </p:nvPr>
        </p:nvSpPr>
        <p:spPr/>
        <p:txBody>
          <a:bodyPr/>
          <a:lstStyle/>
          <a:p>
            <a:fld id="{23BA0818-09BC-4CB6-A333-E22D8F286151}" type="slidenum">
              <a:rPr lang="en-US" smtClean="0"/>
              <a:t>‹#›</a:t>
            </a:fld>
            <a:endParaRPr lang="en-US"/>
          </a:p>
        </p:txBody>
      </p:sp>
    </p:spTree>
    <p:extLst>
      <p:ext uri="{BB962C8B-B14F-4D97-AF65-F5344CB8AC3E}">
        <p14:creationId xmlns:p14="http://schemas.microsoft.com/office/powerpoint/2010/main" val="3847656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5D3064-AD0E-44B8-A1FD-C9C8294B3E55}"/>
              </a:ext>
            </a:extLst>
          </p:cNvPr>
          <p:cNvSpPr>
            <a:spLocks noGrp="1"/>
          </p:cNvSpPr>
          <p:nvPr>
            <p:ph type="title"/>
          </p:nvPr>
        </p:nvSpPr>
        <p:spPr>
          <a:xfrm>
            <a:off x="2584580" y="225156"/>
            <a:ext cx="7007289" cy="679904"/>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8920840-FF82-AFD6-0E92-5191E0F412F3}"/>
              </a:ext>
            </a:extLst>
          </p:cNvPr>
          <p:cNvSpPr>
            <a:spLocks noGrp="1"/>
          </p:cNvSpPr>
          <p:nvPr>
            <p:ph type="body" idx="1"/>
          </p:nvPr>
        </p:nvSpPr>
        <p:spPr>
          <a:xfrm>
            <a:off x="167798" y="1063690"/>
            <a:ext cx="11775386" cy="52366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6B20262-5C22-1B22-F590-B21510489A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59A6F5A-3024-43F4-A20E-288FCAB0A2E6}" type="datetimeFigureOut">
              <a:rPr lang="en-US" smtClean="0"/>
              <a:t>8/5/2026</a:t>
            </a:fld>
            <a:endParaRPr lang="en-US"/>
          </a:p>
        </p:txBody>
      </p:sp>
      <p:sp>
        <p:nvSpPr>
          <p:cNvPr id="5" name="Footer Placeholder 4">
            <a:extLst>
              <a:ext uri="{FF2B5EF4-FFF2-40B4-BE49-F238E27FC236}">
                <a16:creationId xmlns:a16="http://schemas.microsoft.com/office/drawing/2014/main" id="{93C30A65-5A1D-597B-31D3-E9ADC4F97E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027051A-5A19-BFB8-4804-DAF4136C41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3BA0818-09BC-4CB6-A333-E22D8F286151}" type="slidenum">
              <a:rPr lang="en-US" smtClean="0"/>
              <a:t>‹#›</a:t>
            </a:fld>
            <a:endParaRPr lang="en-US"/>
          </a:p>
        </p:txBody>
      </p:sp>
      <p:pic>
        <p:nvPicPr>
          <p:cNvPr id="10" name="Picture 9">
            <a:extLst>
              <a:ext uri="{FF2B5EF4-FFF2-40B4-BE49-F238E27FC236}">
                <a16:creationId xmlns:a16="http://schemas.microsoft.com/office/drawing/2014/main" id="{3ED217C2-53E7-CA69-B787-B849C2D7649B}"/>
              </a:ext>
            </a:extLst>
          </p:cNvPr>
          <p:cNvPicPr>
            <a:picLocks noChangeAspect="1"/>
          </p:cNvPicPr>
          <p:nvPr userDrawn="1"/>
        </p:nvPicPr>
        <p:blipFill>
          <a:blip r:embed="rId9"/>
          <a:stretch>
            <a:fillRect/>
          </a:stretch>
        </p:blipFill>
        <p:spPr>
          <a:xfrm>
            <a:off x="270439" y="178333"/>
            <a:ext cx="1819615" cy="731096"/>
          </a:xfrm>
          <a:prstGeom prst="rect">
            <a:avLst/>
          </a:prstGeom>
        </p:spPr>
      </p:pic>
      <p:cxnSp>
        <p:nvCxnSpPr>
          <p:cNvPr id="8" name="Straight Connector 7">
            <a:extLst>
              <a:ext uri="{FF2B5EF4-FFF2-40B4-BE49-F238E27FC236}">
                <a16:creationId xmlns:a16="http://schemas.microsoft.com/office/drawing/2014/main" id="{F0F4A335-5B64-1815-BD75-26B3B05EC4F6}"/>
              </a:ext>
            </a:extLst>
          </p:cNvPr>
          <p:cNvCxnSpPr/>
          <p:nvPr userDrawn="1"/>
        </p:nvCxnSpPr>
        <p:spPr>
          <a:xfrm>
            <a:off x="2192694" y="853443"/>
            <a:ext cx="9685175"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135805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txStyles>
    <p:titleStyle>
      <a:lvl1pPr algn="ctr" defTabSz="914400" rtl="0" eaLnBrk="1" latinLnBrk="0" hangingPunct="1">
        <a:lnSpc>
          <a:spcPct val="90000"/>
        </a:lnSpc>
        <a:spcBef>
          <a:spcPct val="0"/>
        </a:spcBef>
        <a:buNone/>
        <a:defRPr sz="4400" b="1" kern="1200">
          <a:solidFill>
            <a:schemeClr val="accent2"/>
          </a:solidFill>
          <a:latin typeface="Calibri" panose="020F0502020204030204" pitchFamily="34" charset="0"/>
          <a:ea typeface="+mj-ea"/>
          <a:cs typeface="Calibri" panose="020F0502020204030204" pitchFamily="34" charset="0"/>
        </a:defRPr>
      </a:lvl1pPr>
    </p:titleStyle>
    <p:bodyStyle>
      <a:lvl1pPr marL="0" indent="0" algn="l" defTabSz="914400" rtl="0" eaLnBrk="1" latinLnBrk="0" hangingPunct="1">
        <a:lnSpc>
          <a:spcPct val="90000"/>
        </a:lnSpc>
        <a:spcBef>
          <a:spcPts val="1000"/>
        </a:spcBef>
        <a:buFontTx/>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Courier New" panose="02070309020205020404" pitchFamily="49" charset="0"/>
        <a:buChar char="o"/>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image" Target="../media/image12.png"/><Relationship Id="rId7" Type="http://schemas.openxmlformats.org/officeDocument/2006/relationships/slide" Target="slide17.xml"/><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slide" Target="slide14.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slide" Target="slide11.xml"/><Relationship Id="rId4" Type="http://schemas.openxmlformats.org/officeDocument/2006/relationships/slide" Target="slide6.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p:cNvSpPr txBox="1"/>
          <p:nvPr/>
        </p:nvSpPr>
        <p:spPr>
          <a:xfrm>
            <a:off x="3862631" y="4825522"/>
            <a:ext cx="7521019" cy="954107"/>
          </a:xfrm>
          <a:prstGeom prst="rect">
            <a:avLst/>
          </a:prstGeom>
          <a:noFill/>
        </p:spPr>
        <p:txBody>
          <a:bodyPr wrap="square" rtlCol="0">
            <a:spAutoFit/>
          </a:bodyPr>
          <a:lstStyle/>
          <a:p>
            <a:pPr algn="ctr"/>
            <a:r>
              <a:rPr lang="en-US" sz="2800" b="1" dirty="0">
                <a:solidFill>
                  <a:srgbClr val="10245A"/>
                </a:solidFill>
                <a:latin typeface="Arial" panose="020B0604020202020204" pitchFamily="34" charset="0"/>
                <a:cs typeface="Arial" panose="020B0604020202020204" pitchFamily="34" charset="0"/>
              </a:rPr>
              <a:t>Checker Remote Bridge</a:t>
            </a:r>
          </a:p>
          <a:p>
            <a:pPr algn="ctr"/>
            <a:r>
              <a:rPr lang="en-US" sz="2800" b="1" dirty="0">
                <a:solidFill>
                  <a:srgbClr val="10245A"/>
                </a:solidFill>
                <a:latin typeface="Arial" panose="020B0604020202020204" pitchFamily="34" charset="0"/>
                <a:cs typeface="Arial" panose="020B0604020202020204" pitchFamily="34" charset="0"/>
              </a:rPr>
              <a:t>Date (2026.08.05)</a:t>
            </a:r>
          </a:p>
        </p:txBody>
      </p:sp>
    </p:spTree>
    <p:extLst>
      <p:ext uri="{BB962C8B-B14F-4D97-AF65-F5344CB8AC3E}">
        <p14:creationId xmlns:p14="http://schemas.microsoft.com/office/powerpoint/2010/main" val="1626821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326CB-CE0B-A4EE-C69B-438FC23EBE55}"/>
              </a:ext>
            </a:extLst>
          </p:cNvPr>
          <p:cNvSpPr>
            <a:spLocks noGrp="1"/>
          </p:cNvSpPr>
          <p:nvPr>
            <p:ph type="title"/>
          </p:nvPr>
        </p:nvSpPr>
        <p:spPr/>
        <p:txBody>
          <a:bodyPr>
            <a:normAutofit fontScale="90000"/>
          </a:bodyPr>
          <a:lstStyle/>
          <a:p>
            <a:r>
              <a:rPr lang="en-US" dirty="0"/>
              <a:t>Running the program</a:t>
            </a:r>
          </a:p>
        </p:txBody>
      </p:sp>
      <p:sp>
        <p:nvSpPr>
          <p:cNvPr id="10" name="TextBox 9">
            <a:extLst>
              <a:ext uri="{FF2B5EF4-FFF2-40B4-BE49-F238E27FC236}">
                <a16:creationId xmlns:a16="http://schemas.microsoft.com/office/drawing/2014/main" id="{50062DE6-33DA-C0B4-7869-F8B5714E85B1}"/>
              </a:ext>
            </a:extLst>
          </p:cNvPr>
          <p:cNvSpPr txBox="1"/>
          <p:nvPr/>
        </p:nvSpPr>
        <p:spPr>
          <a:xfrm>
            <a:off x="1" y="3429000"/>
            <a:ext cx="12192000" cy="1477328"/>
          </a:xfrm>
          <a:prstGeom prst="rect">
            <a:avLst/>
          </a:prstGeom>
          <a:noFill/>
        </p:spPr>
        <p:txBody>
          <a:bodyPr wrap="square" rtlCol="0">
            <a:spAutoFit/>
          </a:bodyPr>
          <a:lstStyle/>
          <a:p>
            <a:r>
              <a:rPr lang="en-US" dirty="0"/>
              <a:t>The folder with the program resides at the path P:/PE III/Personal/Eric/Projects/+</a:t>
            </a:r>
            <a:r>
              <a:rPr lang="en-US" dirty="0" err="1"/>
              <a:t>CheckerRemoteBridgeExecutable</a:t>
            </a:r>
            <a:r>
              <a:rPr lang="en-US" dirty="0"/>
              <a:t> as of 2026-08-05. It should look something like this. Files with</a:t>
            </a:r>
            <a:r>
              <a:rPr lang="en-US" i="1" dirty="0"/>
              <a:t>out</a:t>
            </a:r>
            <a:r>
              <a:rPr lang="en-US" dirty="0"/>
              <a:t> a ‘+’ are for the program and should not be touched.</a:t>
            </a:r>
          </a:p>
          <a:p>
            <a:endParaRPr lang="en-US" dirty="0"/>
          </a:p>
          <a:p>
            <a:r>
              <a:rPr lang="en-US" dirty="0"/>
              <a:t>Before you run the .exe, make sure to run +loadOpcEnv.bat (or just </a:t>
            </a:r>
            <a:r>
              <a:rPr lang="en-US" dirty="0" err="1"/>
              <a:t>loadOpcEnv</a:t>
            </a:r>
            <a:r>
              <a:rPr lang="en-US" dirty="0"/>
              <a:t> if you hide file extensions) first, otherwise you’ll just see the following:</a:t>
            </a:r>
          </a:p>
        </p:txBody>
      </p:sp>
      <p:pic>
        <p:nvPicPr>
          <p:cNvPr id="3" name="Picture 2">
            <a:extLst>
              <a:ext uri="{FF2B5EF4-FFF2-40B4-BE49-F238E27FC236}">
                <a16:creationId xmlns:a16="http://schemas.microsoft.com/office/drawing/2014/main" id="{8E515003-666E-D417-CDDC-CAECD0110695}"/>
              </a:ext>
            </a:extLst>
          </p:cNvPr>
          <p:cNvPicPr>
            <a:picLocks noChangeAspect="1"/>
          </p:cNvPicPr>
          <p:nvPr/>
        </p:nvPicPr>
        <p:blipFill>
          <a:blip r:embed="rId2"/>
          <a:srcRect l="57898" t="27891" r="6320" b="15859"/>
          <a:stretch>
            <a:fillRect/>
          </a:stretch>
        </p:blipFill>
        <p:spPr>
          <a:xfrm>
            <a:off x="3761295" y="4732122"/>
            <a:ext cx="4808161" cy="2125878"/>
          </a:xfrm>
          <a:prstGeom prst="rect">
            <a:avLst/>
          </a:prstGeom>
        </p:spPr>
      </p:pic>
      <p:sp>
        <p:nvSpPr>
          <p:cNvPr id="7" name="TextBox 6">
            <a:extLst>
              <a:ext uri="{FF2B5EF4-FFF2-40B4-BE49-F238E27FC236}">
                <a16:creationId xmlns:a16="http://schemas.microsoft.com/office/drawing/2014/main" id="{9C07F431-68EB-F6FD-11AF-F52C32087000}"/>
              </a:ext>
            </a:extLst>
          </p:cNvPr>
          <p:cNvSpPr txBox="1"/>
          <p:nvPr/>
        </p:nvSpPr>
        <p:spPr>
          <a:xfrm>
            <a:off x="8748074" y="4906328"/>
            <a:ext cx="3443925" cy="1200329"/>
          </a:xfrm>
          <a:prstGeom prst="rect">
            <a:avLst/>
          </a:prstGeom>
          <a:noFill/>
        </p:spPr>
        <p:txBody>
          <a:bodyPr wrap="square" rtlCol="0">
            <a:spAutoFit/>
          </a:bodyPr>
          <a:lstStyle/>
          <a:p>
            <a:r>
              <a:rPr lang="en-US" dirty="0"/>
              <a:t>If you’ll be running on the network and you want auto-launch/remote reboot capability, run </a:t>
            </a:r>
            <a:r>
              <a:rPr lang="en-US" dirty="0" err="1"/>
              <a:t>resetPi</a:t>
            </a:r>
            <a:endParaRPr lang="en-US" dirty="0"/>
          </a:p>
        </p:txBody>
      </p:sp>
      <p:pic>
        <p:nvPicPr>
          <p:cNvPr id="9" name="Picture 8">
            <a:extLst>
              <a:ext uri="{FF2B5EF4-FFF2-40B4-BE49-F238E27FC236}">
                <a16:creationId xmlns:a16="http://schemas.microsoft.com/office/drawing/2014/main" id="{87C29880-6BF4-60E7-1A6F-84D8AC17C380}"/>
              </a:ext>
            </a:extLst>
          </p:cNvPr>
          <p:cNvPicPr>
            <a:picLocks noChangeAspect="1"/>
          </p:cNvPicPr>
          <p:nvPr/>
        </p:nvPicPr>
        <p:blipFill>
          <a:blip r:embed="rId3"/>
          <a:stretch>
            <a:fillRect/>
          </a:stretch>
        </p:blipFill>
        <p:spPr>
          <a:xfrm>
            <a:off x="3761295" y="969482"/>
            <a:ext cx="4674299" cy="2395095"/>
          </a:xfrm>
          <a:prstGeom prst="rect">
            <a:avLst/>
          </a:prstGeom>
        </p:spPr>
      </p:pic>
    </p:spTree>
    <p:extLst>
      <p:ext uri="{BB962C8B-B14F-4D97-AF65-F5344CB8AC3E}">
        <p14:creationId xmlns:p14="http://schemas.microsoft.com/office/powerpoint/2010/main" val="3401477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F36A7-85E7-EC80-9460-38139C857C2B}"/>
              </a:ext>
            </a:extLst>
          </p:cNvPr>
          <p:cNvSpPr>
            <a:spLocks noGrp="1"/>
          </p:cNvSpPr>
          <p:nvPr>
            <p:ph type="title"/>
          </p:nvPr>
        </p:nvSpPr>
        <p:spPr/>
        <p:txBody>
          <a:bodyPr>
            <a:normAutofit fontScale="90000"/>
          </a:bodyPr>
          <a:lstStyle/>
          <a:p>
            <a:r>
              <a:rPr lang="en-US" dirty="0"/>
              <a:t>The .bat file</a:t>
            </a:r>
          </a:p>
        </p:txBody>
      </p:sp>
      <p:sp>
        <p:nvSpPr>
          <p:cNvPr id="6" name="TextBox 5">
            <a:extLst>
              <a:ext uri="{FF2B5EF4-FFF2-40B4-BE49-F238E27FC236}">
                <a16:creationId xmlns:a16="http://schemas.microsoft.com/office/drawing/2014/main" id="{6B512495-CAE5-E0B6-6BAA-2BDB1FB55AC5}"/>
              </a:ext>
            </a:extLst>
          </p:cNvPr>
          <p:cNvSpPr txBox="1"/>
          <p:nvPr/>
        </p:nvSpPr>
        <p:spPr>
          <a:xfrm>
            <a:off x="7450523" y="3822113"/>
            <a:ext cx="4518032" cy="338554"/>
          </a:xfrm>
          <a:prstGeom prst="rect">
            <a:avLst/>
          </a:prstGeom>
          <a:noFill/>
        </p:spPr>
        <p:txBody>
          <a:bodyPr wrap="none" rtlCol="0">
            <a:spAutoFit/>
          </a:bodyPr>
          <a:lstStyle/>
          <a:p>
            <a:r>
              <a:rPr lang="en-US" sz="1600" dirty="0"/>
              <a:t>What you’ll see if you run straight from the P drive</a:t>
            </a:r>
          </a:p>
        </p:txBody>
      </p:sp>
      <p:sp>
        <p:nvSpPr>
          <p:cNvPr id="7" name="TextBox 6">
            <a:extLst>
              <a:ext uri="{FF2B5EF4-FFF2-40B4-BE49-F238E27FC236}">
                <a16:creationId xmlns:a16="http://schemas.microsoft.com/office/drawing/2014/main" id="{4C47D0C0-C544-5D9B-756C-AAE53A2F64DE}"/>
              </a:ext>
            </a:extLst>
          </p:cNvPr>
          <p:cNvSpPr txBox="1"/>
          <p:nvPr/>
        </p:nvSpPr>
        <p:spPr>
          <a:xfrm>
            <a:off x="0" y="3331491"/>
            <a:ext cx="6589699" cy="3185937"/>
          </a:xfrm>
          <a:prstGeom prst="rect">
            <a:avLst/>
          </a:prstGeom>
          <a:noFill/>
        </p:spPr>
        <p:txBody>
          <a:bodyPr wrap="square" rtlCol="0">
            <a:spAutoFit/>
          </a:bodyPr>
          <a:lstStyle/>
          <a:p>
            <a:pPr>
              <a:lnSpc>
                <a:spcPct val="125000"/>
              </a:lnSpc>
            </a:pPr>
            <a:r>
              <a:rPr lang="en-US" dirty="0"/>
              <a:t>The .bat file loads a few environment variables to offload database credentials from the app. Because it automatically executes commands and doesn’t live on your computer’s hard drive, it’s flagged as malicious even if you’ve run it before. By default, double clicking this will execute its contents straight from the terminal. If you want to see what it’s doing, you’re welcome to open it in a text editor by right-clicking, then selecting edit (although you will still need to confirm the security dialog). Doing so will not execute the commands.</a:t>
            </a:r>
          </a:p>
        </p:txBody>
      </p:sp>
      <p:sp>
        <p:nvSpPr>
          <p:cNvPr id="8" name="TextBox 7">
            <a:extLst>
              <a:ext uri="{FF2B5EF4-FFF2-40B4-BE49-F238E27FC236}">
                <a16:creationId xmlns:a16="http://schemas.microsoft.com/office/drawing/2014/main" id="{C1FE9DDF-8C98-B755-3D3B-7F09D75EF00F}"/>
              </a:ext>
            </a:extLst>
          </p:cNvPr>
          <p:cNvSpPr txBox="1"/>
          <p:nvPr/>
        </p:nvSpPr>
        <p:spPr>
          <a:xfrm flipH="1">
            <a:off x="6732574" y="5147539"/>
            <a:ext cx="5535625" cy="923330"/>
          </a:xfrm>
          <a:prstGeom prst="rect">
            <a:avLst/>
          </a:prstGeom>
          <a:noFill/>
        </p:spPr>
        <p:txBody>
          <a:bodyPr wrap="square" rtlCol="0">
            <a:spAutoFit/>
          </a:bodyPr>
          <a:lstStyle/>
          <a:p>
            <a:r>
              <a:rPr lang="en-US" dirty="0"/>
              <a:t>When you run the .bat file, you’ll see a terminal window pop up briefly, then disappear. That means the file has run and you’re ready to run the actual program.</a:t>
            </a:r>
          </a:p>
        </p:txBody>
      </p:sp>
      <p:pic>
        <p:nvPicPr>
          <p:cNvPr id="9" name="Picture 8">
            <a:extLst>
              <a:ext uri="{FF2B5EF4-FFF2-40B4-BE49-F238E27FC236}">
                <a16:creationId xmlns:a16="http://schemas.microsoft.com/office/drawing/2014/main" id="{8E547B3B-9DC1-8D1F-CAC6-E88A8E48D639}"/>
              </a:ext>
            </a:extLst>
          </p:cNvPr>
          <p:cNvPicPr>
            <a:picLocks noChangeAspect="1"/>
          </p:cNvPicPr>
          <p:nvPr/>
        </p:nvPicPr>
        <p:blipFill>
          <a:blip r:embed="rId2"/>
          <a:stretch>
            <a:fillRect/>
          </a:stretch>
        </p:blipFill>
        <p:spPr>
          <a:xfrm>
            <a:off x="983483" y="929874"/>
            <a:ext cx="3202194" cy="2422713"/>
          </a:xfrm>
          <a:prstGeom prst="rect">
            <a:avLst/>
          </a:prstGeom>
        </p:spPr>
      </p:pic>
      <p:pic>
        <p:nvPicPr>
          <p:cNvPr id="11" name="Picture 10">
            <a:extLst>
              <a:ext uri="{FF2B5EF4-FFF2-40B4-BE49-F238E27FC236}">
                <a16:creationId xmlns:a16="http://schemas.microsoft.com/office/drawing/2014/main" id="{2B22E8EB-8C2E-37E1-71C4-372418BCDDBD}"/>
              </a:ext>
            </a:extLst>
          </p:cNvPr>
          <p:cNvPicPr>
            <a:picLocks noChangeAspect="1"/>
          </p:cNvPicPr>
          <p:nvPr/>
        </p:nvPicPr>
        <p:blipFill>
          <a:blip r:embed="rId3"/>
          <a:stretch>
            <a:fillRect/>
          </a:stretch>
        </p:blipFill>
        <p:spPr>
          <a:xfrm>
            <a:off x="7386523" y="905060"/>
            <a:ext cx="4410691" cy="2867425"/>
          </a:xfrm>
          <a:prstGeom prst="rect">
            <a:avLst/>
          </a:prstGeom>
        </p:spPr>
      </p:pic>
    </p:spTree>
    <p:extLst>
      <p:ext uri="{BB962C8B-B14F-4D97-AF65-F5344CB8AC3E}">
        <p14:creationId xmlns:p14="http://schemas.microsoft.com/office/powerpoint/2010/main" val="1393151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94811-67A3-ACA0-CEE1-A9EA167456BB}"/>
              </a:ext>
            </a:extLst>
          </p:cNvPr>
          <p:cNvSpPr>
            <a:spLocks noGrp="1"/>
          </p:cNvSpPr>
          <p:nvPr>
            <p:ph type="title"/>
          </p:nvPr>
        </p:nvSpPr>
        <p:spPr/>
        <p:txBody>
          <a:bodyPr>
            <a:normAutofit fontScale="90000"/>
          </a:bodyPr>
          <a:lstStyle/>
          <a:p>
            <a:r>
              <a:rPr lang="en-US" dirty="0"/>
              <a:t>The .exe file</a:t>
            </a:r>
          </a:p>
        </p:txBody>
      </p:sp>
      <p:sp>
        <p:nvSpPr>
          <p:cNvPr id="5" name="TextBox 4">
            <a:extLst>
              <a:ext uri="{FF2B5EF4-FFF2-40B4-BE49-F238E27FC236}">
                <a16:creationId xmlns:a16="http://schemas.microsoft.com/office/drawing/2014/main" id="{D84C3A8A-7E55-2610-6A46-C98FD66F9CBA}"/>
              </a:ext>
            </a:extLst>
          </p:cNvPr>
          <p:cNvSpPr txBox="1"/>
          <p:nvPr/>
        </p:nvSpPr>
        <p:spPr>
          <a:xfrm>
            <a:off x="137706" y="3329710"/>
            <a:ext cx="5295900" cy="1200329"/>
          </a:xfrm>
          <a:prstGeom prst="rect">
            <a:avLst/>
          </a:prstGeom>
          <a:noFill/>
        </p:spPr>
        <p:txBody>
          <a:bodyPr wrap="square" rtlCol="0">
            <a:spAutoFit/>
          </a:bodyPr>
          <a:lstStyle/>
          <a:p>
            <a:r>
              <a:rPr lang="en-US" dirty="0"/>
              <a:t>Once you’ve run the .bat file, you’re ready to go. Double clicking the .exe file will show the security dialog (because it’s an executable), but after you confirm, it should show something like this:</a:t>
            </a:r>
          </a:p>
        </p:txBody>
      </p:sp>
      <p:sp>
        <p:nvSpPr>
          <p:cNvPr id="12" name="TextBox 11">
            <a:extLst>
              <a:ext uri="{FF2B5EF4-FFF2-40B4-BE49-F238E27FC236}">
                <a16:creationId xmlns:a16="http://schemas.microsoft.com/office/drawing/2014/main" id="{C73AB218-A196-D44E-C072-E4881A9B0545}"/>
              </a:ext>
            </a:extLst>
          </p:cNvPr>
          <p:cNvSpPr txBox="1"/>
          <p:nvPr/>
        </p:nvSpPr>
        <p:spPr>
          <a:xfrm>
            <a:off x="5750351" y="2117385"/>
            <a:ext cx="6441649" cy="1477328"/>
          </a:xfrm>
          <a:prstGeom prst="rect">
            <a:avLst/>
          </a:prstGeom>
          <a:noFill/>
        </p:spPr>
        <p:txBody>
          <a:bodyPr wrap="square" rtlCol="0">
            <a:spAutoFit/>
          </a:bodyPr>
          <a:lstStyle/>
          <a:p>
            <a:r>
              <a:rPr lang="en-US" dirty="0"/>
              <a:t>This app is hosted locally, so there’s not a website to go to (in the traditional sense). Open any browser and type in the address from the second line of the terminal output. I’m 99% sure it’s stable at localhost:5000, but it will always match whatever you see in the terminal created by the .exe.</a:t>
            </a:r>
          </a:p>
        </p:txBody>
      </p:sp>
      <p:sp>
        <p:nvSpPr>
          <p:cNvPr id="13" name="TextBox 12">
            <a:extLst>
              <a:ext uri="{FF2B5EF4-FFF2-40B4-BE49-F238E27FC236}">
                <a16:creationId xmlns:a16="http://schemas.microsoft.com/office/drawing/2014/main" id="{E684CA83-4723-2D99-5B80-6CBDAC320240}"/>
              </a:ext>
            </a:extLst>
          </p:cNvPr>
          <p:cNvSpPr txBox="1"/>
          <p:nvPr/>
        </p:nvSpPr>
        <p:spPr>
          <a:xfrm>
            <a:off x="5571157" y="5103674"/>
            <a:ext cx="6620842" cy="1754326"/>
          </a:xfrm>
          <a:prstGeom prst="rect">
            <a:avLst/>
          </a:prstGeom>
          <a:noFill/>
        </p:spPr>
        <p:txBody>
          <a:bodyPr wrap="square" rtlCol="0">
            <a:spAutoFit/>
          </a:bodyPr>
          <a:lstStyle/>
          <a:p>
            <a:r>
              <a:rPr lang="en-US" dirty="0"/>
              <a:t>Side note: the app’s lifespan is tied to the terminal, not the browser. Thus, it doesn’t care when you close the tab, go to a different site, or even close the browser entirely.  The only way to end it is to go back to the terminal and either close it or press </a:t>
            </a:r>
            <a:r>
              <a:rPr lang="en-US" dirty="0" err="1"/>
              <a:t>Ctrl+C</a:t>
            </a:r>
            <a:r>
              <a:rPr lang="en-US" dirty="0"/>
              <a:t> as it indicates. Once the app closes, all tabs currently viewing it will try to reconnect a couple times before giving up.</a:t>
            </a:r>
          </a:p>
        </p:txBody>
      </p:sp>
      <p:pic>
        <p:nvPicPr>
          <p:cNvPr id="6" name="Picture 5">
            <a:extLst>
              <a:ext uri="{FF2B5EF4-FFF2-40B4-BE49-F238E27FC236}">
                <a16:creationId xmlns:a16="http://schemas.microsoft.com/office/drawing/2014/main" id="{AB6F96B0-1893-37B7-7ED0-8D324D8C0E49}"/>
              </a:ext>
            </a:extLst>
          </p:cNvPr>
          <p:cNvPicPr>
            <a:picLocks noChangeAspect="1"/>
          </p:cNvPicPr>
          <p:nvPr/>
        </p:nvPicPr>
        <p:blipFill>
          <a:blip r:embed="rId2"/>
          <a:stretch>
            <a:fillRect/>
          </a:stretch>
        </p:blipFill>
        <p:spPr>
          <a:xfrm>
            <a:off x="317433" y="893064"/>
            <a:ext cx="4534293" cy="2424650"/>
          </a:xfrm>
          <a:prstGeom prst="rect">
            <a:avLst/>
          </a:prstGeom>
        </p:spPr>
      </p:pic>
      <p:pic>
        <p:nvPicPr>
          <p:cNvPr id="8" name="Picture 7">
            <a:extLst>
              <a:ext uri="{FF2B5EF4-FFF2-40B4-BE49-F238E27FC236}">
                <a16:creationId xmlns:a16="http://schemas.microsoft.com/office/drawing/2014/main" id="{5154897E-501F-1624-9E9A-FBD76758DB44}"/>
              </a:ext>
            </a:extLst>
          </p:cNvPr>
          <p:cNvPicPr>
            <a:picLocks noChangeAspect="1"/>
          </p:cNvPicPr>
          <p:nvPr/>
        </p:nvPicPr>
        <p:blipFill>
          <a:blip r:embed="rId3"/>
          <a:stretch>
            <a:fillRect/>
          </a:stretch>
        </p:blipFill>
        <p:spPr>
          <a:xfrm>
            <a:off x="317433" y="4524385"/>
            <a:ext cx="4851726" cy="2325048"/>
          </a:xfrm>
          <a:prstGeom prst="rect">
            <a:avLst/>
          </a:prstGeom>
        </p:spPr>
      </p:pic>
      <p:pic>
        <p:nvPicPr>
          <p:cNvPr id="14" name="Picture 13">
            <a:extLst>
              <a:ext uri="{FF2B5EF4-FFF2-40B4-BE49-F238E27FC236}">
                <a16:creationId xmlns:a16="http://schemas.microsoft.com/office/drawing/2014/main" id="{3242653F-5EC1-800A-BFF0-E4A149B78D98}"/>
              </a:ext>
            </a:extLst>
          </p:cNvPr>
          <p:cNvPicPr>
            <a:picLocks noChangeAspect="1"/>
          </p:cNvPicPr>
          <p:nvPr/>
        </p:nvPicPr>
        <p:blipFill>
          <a:blip r:embed="rId4"/>
          <a:stretch>
            <a:fillRect/>
          </a:stretch>
        </p:blipFill>
        <p:spPr>
          <a:xfrm>
            <a:off x="6923014" y="967782"/>
            <a:ext cx="3832970" cy="1087494"/>
          </a:xfrm>
          <a:prstGeom prst="rect">
            <a:avLst/>
          </a:prstGeom>
        </p:spPr>
      </p:pic>
      <p:pic>
        <p:nvPicPr>
          <p:cNvPr id="17" name="Picture 16">
            <a:extLst>
              <a:ext uri="{FF2B5EF4-FFF2-40B4-BE49-F238E27FC236}">
                <a16:creationId xmlns:a16="http://schemas.microsoft.com/office/drawing/2014/main" id="{2BBC97F4-D701-79B9-7707-F3C47E1B70D8}"/>
              </a:ext>
            </a:extLst>
          </p:cNvPr>
          <p:cNvPicPr>
            <a:picLocks noChangeAspect="1"/>
          </p:cNvPicPr>
          <p:nvPr/>
        </p:nvPicPr>
        <p:blipFill>
          <a:blip r:embed="rId5"/>
          <a:stretch>
            <a:fillRect/>
          </a:stretch>
        </p:blipFill>
        <p:spPr>
          <a:xfrm>
            <a:off x="5613333" y="3594713"/>
            <a:ext cx="6095998" cy="1383557"/>
          </a:xfrm>
          <a:prstGeom prst="rect">
            <a:avLst/>
          </a:prstGeom>
        </p:spPr>
      </p:pic>
    </p:spTree>
    <p:extLst>
      <p:ext uri="{BB962C8B-B14F-4D97-AF65-F5344CB8AC3E}">
        <p14:creationId xmlns:p14="http://schemas.microsoft.com/office/powerpoint/2010/main" val="1392230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130D7-9C55-DA1B-623A-3BBF3A5A94F1}"/>
              </a:ext>
            </a:extLst>
          </p:cNvPr>
          <p:cNvSpPr>
            <a:spLocks noGrp="1"/>
          </p:cNvSpPr>
          <p:nvPr>
            <p:ph type="title"/>
          </p:nvPr>
        </p:nvSpPr>
        <p:spPr/>
        <p:txBody>
          <a:bodyPr>
            <a:normAutofit fontScale="90000"/>
          </a:bodyPr>
          <a:lstStyle/>
          <a:p>
            <a:r>
              <a:rPr lang="en-US" dirty="0"/>
              <a:t>Table of Contents</a:t>
            </a:r>
          </a:p>
        </p:txBody>
      </p:sp>
      <mc:AlternateContent xmlns:mc="http://schemas.openxmlformats.org/markup-compatibility/2006">
        <mc:Choice xmlns:psuz="http://schemas.microsoft.com/office/powerpoint/2016/summaryzoom" Requires="psuz">
          <p:graphicFrame>
            <p:nvGraphicFramePr>
              <p:cNvPr id="5" name="Summary Zoom 4">
                <a:extLst>
                  <a:ext uri="{FF2B5EF4-FFF2-40B4-BE49-F238E27FC236}">
                    <a16:creationId xmlns:a16="http://schemas.microsoft.com/office/drawing/2014/main" id="{943BD2CD-4F69-A6F6-639A-F0351A23304C}"/>
                  </a:ext>
                </a:extLst>
              </p:cNvPr>
              <p:cNvGraphicFramePr>
                <a:graphicFrameLocks noChangeAspect="1"/>
              </p:cNvGraphicFramePr>
              <p:nvPr>
                <p:extLst>
                  <p:ext uri="{D42A27DB-BD31-4B8C-83A1-F6EECF244321}">
                    <p14:modId xmlns:p14="http://schemas.microsoft.com/office/powerpoint/2010/main" val="90858635"/>
                  </p:ext>
                </p:extLst>
              </p:nvPr>
            </p:nvGraphicFramePr>
            <p:xfrm>
              <a:off x="168275" y="1063625"/>
              <a:ext cx="11774488" cy="5237163"/>
            </p:xfrm>
            <a:graphic>
              <a:graphicData uri="http://schemas.microsoft.com/office/powerpoint/2016/summaryzoom">
                <psuz:summaryZm>
                  <psuz:summaryZmObj sectionId="{7953E210-EE80-43B6-973A-E207864F8870}" offsetFactorX="265" offsetFactorY="109746">
                    <psuz:zmPr id="{E98C7149-FC14-4FAF-B3AA-6D1EDFF7FADB}" transitionDur="1000">
                      <p166:blipFill xmlns:p166="http://schemas.microsoft.com/office/powerpoint/2016/6/main">
                        <a:blip r:embed="rId2"/>
                        <a:stretch>
                          <a:fillRect/>
                        </a:stretch>
                      </p166:blipFill>
                      <p166:spPr xmlns:p166="http://schemas.microsoft.com/office/powerpoint/2016/6/main">
                        <a:xfrm>
                          <a:off x="1630059" y="2769710"/>
                          <a:ext cx="4189730" cy="2356723"/>
                        </a:xfrm>
                        <a:prstGeom prst="rect">
                          <a:avLst/>
                        </a:prstGeom>
                        <a:ln w="3175">
                          <a:solidFill>
                            <a:prstClr val="ltGray"/>
                          </a:solidFill>
                        </a:ln>
                      </p166:spPr>
                    </psuz:zmPr>
                  </psuz:summaryZmObj>
                  <psuz:summaryZmObj sectionId="{6CE7CD9C-2386-4479-8C34-F19D2C833D3C}">
                    <psuz:zmPr id="{D0F45D07-C124-4D11-B03C-8893A9020986}" transitionDur="1000">
                      <p166:blipFill xmlns:p166="http://schemas.microsoft.com/office/powerpoint/2016/6/main">
                        <a:blip r:embed="rId3"/>
                        <a:stretch>
                          <a:fillRect/>
                        </a:stretch>
                      </p166:blipFill>
                      <p166:spPr xmlns:p166="http://schemas.microsoft.com/office/powerpoint/2016/6/main">
                        <a:xfrm>
                          <a:off x="5965801" y="183301"/>
                          <a:ext cx="4189730" cy="2356723"/>
                        </a:xfrm>
                        <a:prstGeom prst="rect">
                          <a:avLst/>
                        </a:prstGeom>
                        <a:ln w="3175">
                          <a:solidFill>
                            <a:prstClr val="ltGray"/>
                          </a:solidFill>
                        </a:ln>
                      </p166:spPr>
                    </psuz:zmPr>
                  </psuz:summaryZmObj>
                  <psuz:summaryZmObj sectionId="{E059FA79-F2B9-477F-B036-1CA427A041EF}" offsetFactorX="265" offsetFactorY="-106851">
                    <psuz:zmPr id="{5CE593DE-D40B-447A-AD6D-5F32672A8373}" transitionDur="1000">
                      <p166:blipFill xmlns:p166="http://schemas.microsoft.com/office/powerpoint/2016/6/main">
                        <a:blip r:embed="rId4"/>
                        <a:stretch>
                          <a:fillRect/>
                        </a:stretch>
                      </p166:blipFill>
                      <p166:spPr xmlns:p166="http://schemas.microsoft.com/office/powerpoint/2016/6/main">
                        <a:xfrm>
                          <a:off x="1630059" y="178957"/>
                          <a:ext cx="4189730" cy="2356723"/>
                        </a:xfrm>
                        <a:prstGeom prst="rect">
                          <a:avLst/>
                        </a:prstGeom>
                        <a:ln w="3175">
                          <a:solidFill>
                            <a:prstClr val="ltGray"/>
                          </a:solidFill>
                        </a:ln>
                      </p166:spPr>
                    </psuz:zmPr>
                  </psuz:summaryZmObj>
                  <psuz:summaryZmObj sectionId="{B3499BAD-9CFD-4299-BDA4-8843225530E5}">
                    <psuz:zmPr id="{0EAAD114-5700-427E-8753-9FEFF84B55F4}" transitionDur="1000">
                      <p166:blipFill xmlns:p166="http://schemas.microsoft.com/office/powerpoint/2016/6/main">
                        <a:blip r:embed="rId5"/>
                        <a:stretch>
                          <a:fillRect/>
                        </a:stretch>
                      </p166:blipFill>
                      <p166:spPr xmlns:p166="http://schemas.microsoft.com/office/powerpoint/2016/6/main">
                        <a:xfrm>
                          <a:off x="5965801" y="2697139"/>
                          <a:ext cx="4189730" cy="2356723"/>
                        </a:xfrm>
                        <a:prstGeom prst="rect">
                          <a:avLst/>
                        </a:prstGeom>
                        <a:ln w="3175">
                          <a:solidFill>
                            <a:prstClr val="ltGray"/>
                          </a:solidFill>
                        </a:ln>
                      </p166:spPr>
                    </psuz:zmPr>
                  </psuz:summaryZmObj>
                  <psuz:gridLayout/>
                </psuz:summaryZm>
              </a:graphicData>
            </a:graphic>
          </p:graphicFrame>
        </mc:Choice>
        <mc:Fallback>
          <p:grpSp>
            <p:nvGrpSpPr>
              <p:cNvPr id="5" name="Summary Zoom 4">
                <a:extLst>
                  <a:ext uri="{FF2B5EF4-FFF2-40B4-BE49-F238E27FC236}">
                    <a16:creationId xmlns:a16="http://schemas.microsoft.com/office/drawing/2014/main" id="{943BD2CD-4F69-A6F6-639A-F0351A23304C}"/>
                  </a:ext>
                </a:extLst>
              </p:cNvPr>
              <p:cNvGrpSpPr>
                <a:grpSpLocks noGrp="1" noUngrp="1" noRot="1" noChangeAspect="1" noMove="1" noResize="1"/>
              </p:cNvGrpSpPr>
              <p:nvPr/>
            </p:nvGrpSpPr>
            <p:grpSpPr>
              <a:xfrm>
                <a:off x="168275" y="1063625"/>
                <a:ext cx="11774488" cy="5237163"/>
                <a:chOff x="168275" y="1063625"/>
                <a:chExt cx="11774488" cy="5237163"/>
              </a:xfrm>
            </p:grpSpPr>
            <p:pic>
              <p:nvPicPr>
                <p:cNvPr id="4" name="Picture 4">
                  <a:hlinkClick r:id="rId6" action="ppaction://hlinksldjump"/>
                </p:cNvPr>
                <p:cNvPicPr>
                  <a:picLocks noSelect="1" noRot="1" noChangeAspect="1" noMove="1" noResize="1" noEditPoints="1" noAdjustHandles="1" noChangeArrowheads="1" noChangeShapeType="1"/>
                </p:cNvPicPr>
                <p:nvPr/>
              </p:nvPicPr>
              <p:blipFill>
                <a:blip r:embed="rId2"/>
                <a:stretch>
                  <a:fillRect/>
                </a:stretch>
              </p:blipFill>
              <p:spPr>
                <a:xfrm>
                  <a:off x="1798334" y="3833335"/>
                  <a:ext cx="4189730" cy="2356723"/>
                </a:xfrm>
                <a:prstGeom prst="rect">
                  <a:avLst/>
                </a:prstGeom>
                <a:ln w="3175">
                  <a:solidFill>
                    <a:prstClr val="ltGray"/>
                  </a:solidFill>
                </a:ln>
              </p:spPr>
            </p:pic>
            <p:pic>
              <p:nvPicPr>
                <p:cNvPr id="7" name="Picture 7">
                  <a:hlinkClick r:id="rId7" action="ppaction://hlinksldjump"/>
                </p:cNvPr>
                <p:cNvPicPr>
                  <a:picLocks noSelect="1" noRot="1" noChangeAspect="1" noMove="1" noResize="1" noEditPoints="1" noAdjustHandles="1" noChangeArrowheads="1" noChangeShapeType="1"/>
                </p:cNvPicPr>
                <p:nvPr/>
              </p:nvPicPr>
              <p:blipFill>
                <a:blip r:embed="rId3"/>
                <a:stretch>
                  <a:fillRect/>
                </a:stretch>
              </p:blipFill>
              <p:spPr>
                <a:xfrm>
                  <a:off x="6134076" y="1246926"/>
                  <a:ext cx="4189730" cy="2356723"/>
                </a:xfrm>
                <a:prstGeom prst="rect">
                  <a:avLst/>
                </a:prstGeom>
                <a:ln w="3175">
                  <a:solidFill>
                    <a:prstClr val="ltGray"/>
                  </a:solidFill>
                </a:ln>
              </p:spPr>
            </p:pic>
            <p:pic>
              <p:nvPicPr>
                <p:cNvPr id="8" name="Picture 8">
                  <a:hlinkClick r:id="rId8" action="ppaction://hlinksldjump"/>
                </p:cNvPr>
                <p:cNvPicPr>
                  <a:picLocks noSelect="1" noRot="1" noChangeAspect="1" noMove="1" noResize="1" noEditPoints="1" noAdjustHandles="1" noChangeArrowheads="1" noChangeShapeType="1"/>
                </p:cNvPicPr>
                <p:nvPr/>
              </p:nvPicPr>
              <p:blipFill>
                <a:blip r:embed="rId4"/>
                <a:stretch>
                  <a:fillRect/>
                </a:stretch>
              </p:blipFill>
              <p:spPr>
                <a:xfrm>
                  <a:off x="1798334" y="1242582"/>
                  <a:ext cx="4189730" cy="2356723"/>
                </a:xfrm>
                <a:prstGeom prst="rect">
                  <a:avLst/>
                </a:prstGeom>
                <a:ln w="3175">
                  <a:solidFill>
                    <a:prstClr val="ltGray"/>
                  </a:solidFill>
                </a:ln>
              </p:spPr>
            </p:pic>
            <p:pic>
              <p:nvPicPr>
                <p:cNvPr id="10" name="Picture 10">
                  <a:hlinkClick r:id="rId9" action="ppaction://hlinksldjump"/>
                </p:cNvPr>
                <p:cNvPicPr>
                  <a:picLocks noSelect="1" noRot="1" noChangeAspect="1" noMove="1" noResize="1" noEditPoints="1" noAdjustHandles="1" noChangeArrowheads="1" noChangeShapeType="1"/>
                </p:cNvPicPr>
                <p:nvPr/>
              </p:nvPicPr>
              <p:blipFill>
                <a:blip r:embed="rId5"/>
                <a:stretch>
                  <a:fillRect/>
                </a:stretch>
              </p:blipFill>
              <p:spPr>
                <a:xfrm>
                  <a:off x="6134076" y="3760764"/>
                  <a:ext cx="4189730" cy="2356723"/>
                </a:xfrm>
                <a:prstGeom prst="rect">
                  <a:avLst/>
                </a:prstGeom>
                <a:ln w="3175">
                  <a:solidFill>
                    <a:prstClr val="ltGray"/>
                  </a:solidFill>
                </a:ln>
              </p:spPr>
            </p:pic>
          </p:grpSp>
        </mc:Fallback>
      </mc:AlternateContent>
      <p:sp>
        <p:nvSpPr>
          <p:cNvPr id="3" name="TextBox 2">
            <a:extLst>
              <a:ext uri="{FF2B5EF4-FFF2-40B4-BE49-F238E27FC236}">
                <a16:creationId xmlns:a16="http://schemas.microsoft.com/office/drawing/2014/main" id="{169E81B7-0EEF-BD7F-5B6E-79EB21AD1318}"/>
              </a:ext>
            </a:extLst>
          </p:cNvPr>
          <p:cNvSpPr txBox="1"/>
          <p:nvPr/>
        </p:nvSpPr>
        <p:spPr>
          <a:xfrm>
            <a:off x="0" y="4411524"/>
            <a:ext cx="1533525" cy="1200329"/>
          </a:xfrm>
          <a:prstGeom prst="rect">
            <a:avLst/>
          </a:prstGeom>
          <a:noFill/>
        </p:spPr>
        <p:txBody>
          <a:bodyPr wrap="square" rtlCol="0">
            <a:spAutoFit/>
          </a:bodyPr>
          <a:lstStyle/>
          <a:p>
            <a:r>
              <a:rPr lang="en-US" dirty="0">
                <a:solidFill>
                  <a:schemeClr val="accent5">
                    <a:lumMod val="60000"/>
                    <a:lumOff val="40000"/>
                  </a:schemeClr>
                </a:solidFill>
              </a:rPr>
              <a:t>If you’re an admin, you’ll be interested in this one</a:t>
            </a:r>
          </a:p>
        </p:txBody>
      </p:sp>
      <p:cxnSp>
        <p:nvCxnSpPr>
          <p:cNvPr id="6" name="Straight Arrow Connector 5">
            <a:extLst>
              <a:ext uri="{FF2B5EF4-FFF2-40B4-BE49-F238E27FC236}">
                <a16:creationId xmlns:a16="http://schemas.microsoft.com/office/drawing/2014/main" id="{06A55F69-102E-91FC-9F94-AE559EFE0D8C}"/>
              </a:ext>
            </a:extLst>
          </p:cNvPr>
          <p:cNvCxnSpPr>
            <a:cxnSpLocks/>
            <a:stCxn id="3" idx="3"/>
          </p:cNvCxnSpPr>
          <p:nvPr/>
        </p:nvCxnSpPr>
        <p:spPr>
          <a:xfrm>
            <a:off x="1533525" y="5011689"/>
            <a:ext cx="26479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D9C37FE-FBD9-D91F-B2AD-D0524F04DC3A}"/>
              </a:ext>
            </a:extLst>
          </p:cNvPr>
          <p:cNvSpPr txBox="1"/>
          <p:nvPr/>
        </p:nvSpPr>
        <p:spPr>
          <a:xfrm>
            <a:off x="1" y="1733144"/>
            <a:ext cx="1432874" cy="923330"/>
          </a:xfrm>
          <a:prstGeom prst="rect">
            <a:avLst/>
          </a:prstGeom>
          <a:noFill/>
        </p:spPr>
        <p:txBody>
          <a:bodyPr wrap="square" rtlCol="0">
            <a:spAutoFit/>
          </a:bodyPr>
          <a:lstStyle/>
          <a:p>
            <a:r>
              <a:rPr lang="en-US" dirty="0">
                <a:solidFill>
                  <a:schemeClr val="accent5">
                    <a:lumMod val="60000"/>
                    <a:lumOff val="40000"/>
                  </a:schemeClr>
                </a:solidFill>
              </a:rPr>
              <a:t>If you’re just browsing, start here</a:t>
            </a:r>
          </a:p>
        </p:txBody>
      </p:sp>
      <p:cxnSp>
        <p:nvCxnSpPr>
          <p:cNvPr id="11" name="Straight Arrow Connector 10">
            <a:extLst>
              <a:ext uri="{FF2B5EF4-FFF2-40B4-BE49-F238E27FC236}">
                <a16:creationId xmlns:a16="http://schemas.microsoft.com/office/drawing/2014/main" id="{549C042C-B087-5A9D-B8DD-7324A94C22B1}"/>
              </a:ext>
            </a:extLst>
          </p:cNvPr>
          <p:cNvCxnSpPr/>
          <p:nvPr/>
        </p:nvCxnSpPr>
        <p:spPr>
          <a:xfrm>
            <a:off x="1432874" y="2186940"/>
            <a:ext cx="36544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7003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46E7F9F-6B60-B8A6-20F1-BB20A1B1084F}"/>
              </a:ext>
            </a:extLst>
          </p:cNvPr>
          <p:cNvPicPr>
            <a:picLocks noChangeAspect="1"/>
          </p:cNvPicPr>
          <p:nvPr/>
        </p:nvPicPr>
        <p:blipFill>
          <a:blip r:embed="rId2"/>
          <a:stretch>
            <a:fillRect/>
          </a:stretch>
        </p:blipFill>
        <p:spPr>
          <a:xfrm>
            <a:off x="312834" y="905060"/>
            <a:ext cx="11509716" cy="5727840"/>
          </a:xfrm>
          <a:prstGeom prst="rect">
            <a:avLst/>
          </a:prstGeom>
        </p:spPr>
      </p:pic>
      <p:sp>
        <p:nvSpPr>
          <p:cNvPr id="2" name="Title 1">
            <a:extLst>
              <a:ext uri="{FF2B5EF4-FFF2-40B4-BE49-F238E27FC236}">
                <a16:creationId xmlns:a16="http://schemas.microsoft.com/office/drawing/2014/main" id="{0BE6C62B-E12D-A500-00D1-E6C3D6AAD4DD}"/>
              </a:ext>
            </a:extLst>
          </p:cNvPr>
          <p:cNvSpPr>
            <a:spLocks noGrp="1"/>
          </p:cNvSpPr>
          <p:nvPr>
            <p:ph type="title"/>
          </p:nvPr>
        </p:nvSpPr>
        <p:spPr/>
        <p:txBody>
          <a:bodyPr>
            <a:normAutofit fontScale="90000"/>
          </a:bodyPr>
          <a:lstStyle/>
          <a:p>
            <a:r>
              <a:rPr lang="en-US" dirty="0"/>
              <a:t>Navigation bar</a:t>
            </a:r>
          </a:p>
        </p:txBody>
      </p:sp>
      <p:sp>
        <p:nvSpPr>
          <p:cNvPr id="6" name="TextBox 5">
            <a:extLst>
              <a:ext uri="{FF2B5EF4-FFF2-40B4-BE49-F238E27FC236}">
                <a16:creationId xmlns:a16="http://schemas.microsoft.com/office/drawing/2014/main" id="{D4C9E05E-1FCE-1994-B712-360E98CE0DA4}"/>
              </a:ext>
            </a:extLst>
          </p:cNvPr>
          <p:cNvSpPr txBox="1"/>
          <p:nvPr/>
        </p:nvSpPr>
        <p:spPr>
          <a:xfrm>
            <a:off x="3789771" y="1974292"/>
            <a:ext cx="5639782" cy="584775"/>
          </a:xfrm>
          <a:prstGeom prst="rect">
            <a:avLst/>
          </a:prstGeom>
          <a:noFill/>
        </p:spPr>
        <p:txBody>
          <a:bodyPr wrap="square" rtlCol="0">
            <a:spAutoFit/>
          </a:bodyPr>
          <a:lstStyle/>
          <a:p>
            <a:r>
              <a:rPr lang="en-US" sz="1600" dirty="0">
                <a:solidFill>
                  <a:schemeClr val="accent5">
                    <a:lumMod val="60000"/>
                    <a:lumOff val="40000"/>
                  </a:schemeClr>
                </a:solidFill>
              </a:rPr>
              <a:t>When hovering over the left side of the screen, the content dims and blurs to draw attention to the navbar overlay</a:t>
            </a:r>
          </a:p>
        </p:txBody>
      </p:sp>
      <p:sp>
        <p:nvSpPr>
          <p:cNvPr id="7" name="Rectangle 6">
            <a:extLst>
              <a:ext uri="{FF2B5EF4-FFF2-40B4-BE49-F238E27FC236}">
                <a16:creationId xmlns:a16="http://schemas.microsoft.com/office/drawing/2014/main" id="{CD7D74B4-3D16-8CCF-CCC0-CA9CF1B7013D}"/>
              </a:ext>
            </a:extLst>
          </p:cNvPr>
          <p:cNvSpPr/>
          <p:nvPr/>
        </p:nvSpPr>
        <p:spPr>
          <a:xfrm>
            <a:off x="312834" y="905116"/>
            <a:ext cx="318762" cy="5727784"/>
          </a:xfrm>
          <a:prstGeom prst="rect">
            <a:avLst/>
          </a:prstGeom>
          <a:solidFill>
            <a:schemeClr val="accent2">
              <a:alpha val="50000"/>
            </a:schemeClr>
          </a:solidFill>
          <a:ln>
            <a:solidFill>
              <a:schemeClr val="accent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CC90D9B-42A9-0993-282B-B3B9044A95C9}"/>
              </a:ext>
            </a:extLst>
          </p:cNvPr>
          <p:cNvSpPr txBox="1"/>
          <p:nvPr/>
        </p:nvSpPr>
        <p:spPr>
          <a:xfrm>
            <a:off x="555396" y="3140697"/>
            <a:ext cx="461665" cy="1889107"/>
          </a:xfrm>
          <a:prstGeom prst="rect">
            <a:avLst/>
          </a:prstGeom>
          <a:noFill/>
        </p:spPr>
        <p:txBody>
          <a:bodyPr vert="eaVert" wrap="none" rtlCol="0">
            <a:spAutoFit/>
          </a:bodyPr>
          <a:lstStyle/>
          <a:p>
            <a:r>
              <a:rPr lang="en-US" dirty="0">
                <a:solidFill>
                  <a:schemeClr val="accent2"/>
                </a:solidFill>
              </a:rPr>
              <a:t>Detection window</a:t>
            </a:r>
          </a:p>
        </p:txBody>
      </p:sp>
    </p:spTree>
    <p:extLst>
      <p:ext uri="{BB962C8B-B14F-4D97-AF65-F5344CB8AC3E}">
        <p14:creationId xmlns:p14="http://schemas.microsoft.com/office/powerpoint/2010/main" val="1154217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B73AD-B8EA-D737-3E9F-D93B02C78AB9}"/>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39FE56D1-0B0B-8E19-0E8B-BDB3F48DC957}"/>
              </a:ext>
            </a:extLst>
          </p:cNvPr>
          <p:cNvPicPr>
            <a:picLocks noChangeAspect="1"/>
          </p:cNvPicPr>
          <p:nvPr/>
        </p:nvPicPr>
        <p:blipFill>
          <a:blip r:embed="rId2"/>
          <a:stretch>
            <a:fillRect/>
          </a:stretch>
        </p:blipFill>
        <p:spPr>
          <a:xfrm>
            <a:off x="301064" y="905183"/>
            <a:ext cx="11589872" cy="5791909"/>
          </a:xfrm>
          <a:prstGeom prst="rect">
            <a:avLst/>
          </a:prstGeom>
        </p:spPr>
      </p:pic>
      <p:sp>
        <p:nvSpPr>
          <p:cNvPr id="2" name="Title 1">
            <a:extLst>
              <a:ext uri="{FF2B5EF4-FFF2-40B4-BE49-F238E27FC236}">
                <a16:creationId xmlns:a16="http://schemas.microsoft.com/office/drawing/2014/main" id="{6390E3F7-5CF7-0641-C92A-780A10592985}"/>
              </a:ext>
            </a:extLst>
          </p:cNvPr>
          <p:cNvSpPr>
            <a:spLocks noGrp="1"/>
          </p:cNvSpPr>
          <p:nvPr>
            <p:ph type="title"/>
          </p:nvPr>
        </p:nvSpPr>
        <p:spPr>
          <a:xfrm>
            <a:off x="2438474" y="225279"/>
            <a:ext cx="7351272" cy="679904"/>
          </a:xfrm>
        </p:spPr>
        <p:txBody>
          <a:bodyPr>
            <a:normAutofit fontScale="90000"/>
          </a:bodyPr>
          <a:lstStyle/>
          <a:p>
            <a:r>
              <a:rPr lang="en-US" dirty="0"/>
              <a:t>Splash screen/sample creation</a:t>
            </a:r>
          </a:p>
        </p:txBody>
      </p:sp>
      <p:sp>
        <p:nvSpPr>
          <p:cNvPr id="11" name="TextBox 10">
            <a:extLst>
              <a:ext uri="{FF2B5EF4-FFF2-40B4-BE49-F238E27FC236}">
                <a16:creationId xmlns:a16="http://schemas.microsoft.com/office/drawing/2014/main" id="{FF7A9728-3103-237E-0EC1-A6518507D228}"/>
              </a:ext>
            </a:extLst>
          </p:cNvPr>
          <p:cNvSpPr txBox="1"/>
          <p:nvPr/>
        </p:nvSpPr>
        <p:spPr>
          <a:xfrm>
            <a:off x="11835237" y="1084083"/>
            <a:ext cx="369332" cy="5007525"/>
          </a:xfrm>
          <a:prstGeom prst="rect">
            <a:avLst/>
          </a:prstGeom>
          <a:noFill/>
        </p:spPr>
        <p:txBody>
          <a:bodyPr vert="eaVert" wrap="none" rtlCol="0">
            <a:spAutoFit/>
          </a:bodyPr>
          <a:lstStyle/>
          <a:p>
            <a:r>
              <a:rPr lang="en-US" sz="1200" dirty="0">
                <a:solidFill>
                  <a:schemeClr val="accent5">
                    <a:lumMod val="60000"/>
                    <a:lumOff val="40000"/>
                  </a:schemeClr>
                </a:solidFill>
              </a:rPr>
              <a:t>The outer scrollbar controls the page, the inner scrollbar controls the table</a:t>
            </a:r>
          </a:p>
        </p:txBody>
      </p:sp>
      <p:sp>
        <p:nvSpPr>
          <p:cNvPr id="12" name="TextBox 11">
            <a:extLst>
              <a:ext uri="{FF2B5EF4-FFF2-40B4-BE49-F238E27FC236}">
                <a16:creationId xmlns:a16="http://schemas.microsoft.com/office/drawing/2014/main" id="{1B8ADE77-ECD6-65CD-3324-7F1F2E56A187}"/>
              </a:ext>
            </a:extLst>
          </p:cNvPr>
          <p:cNvSpPr txBox="1"/>
          <p:nvPr/>
        </p:nvSpPr>
        <p:spPr>
          <a:xfrm>
            <a:off x="6640933" y="999225"/>
            <a:ext cx="3677821" cy="276999"/>
          </a:xfrm>
          <a:prstGeom prst="rect">
            <a:avLst/>
          </a:prstGeom>
          <a:noFill/>
        </p:spPr>
        <p:txBody>
          <a:bodyPr wrap="square" rtlCol="0">
            <a:spAutoFit/>
          </a:bodyPr>
          <a:lstStyle/>
          <a:p>
            <a:r>
              <a:rPr lang="en-US" sz="1200" dirty="0">
                <a:solidFill>
                  <a:schemeClr val="accent5">
                    <a:lumMod val="60000"/>
                    <a:lumOff val="40000"/>
                  </a:schemeClr>
                </a:solidFill>
              </a:rPr>
              <a:t>Opens a form to </a:t>
            </a:r>
            <a:r>
              <a:rPr lang="en-US" sz="1200" dirty="0">
                <a:solidFill>
                  <a:schemeClr val="accent5">
                    <a:lumMod val="60000"/>
                    <a:lumOff val="40000"/>
                  </a:schemeClr>
                </a:solidFill>
                <a:hlinkClick r:id="rId3" action="ppaction://hlinksldjump"/>
              </a:rPr>
              <a:t>add a new sample</a:t>
            </a:r>
            <a:r>
              <a:rPr lang="en-US" sz="1200" dirty="0">
                <a:solidFill>
                  <a:schemeClr val="accent5">
                    <a:lumMod val="60000"/>
                    <a:lumOff val="40000"/>
                  </a:schemeClr>
                </a:solidFill>
              </a:rPr>
              <a:t> to the database</a:t>
            </a:r>
          </a:p>
        </p:txBody>
      </p:sp>
      <p:cxnSp>
        <p:nvCxnSpPr>
          <p:cNvPr id="16" name="Connector: Elbow 15">
            <a:extLst>
              <a:ext uri="{FF2B5EF4-FFF2-40B4-BE49-F238E27FC236}">
                <a16:creationId xmlns:a16="http://schemas.microsoft.com/office/drawing/2014/main" id="{4F7C1CF2-6E7C-2A7B-90E5-19D9D2028133}"/>
              </a:ext>
            </a:extLst>
          </p:cNvPr>
          <p:cNvCxnSpPr>
            <a:cxnSpLocks/>
            <a:stCxn id="12" idx="1"/>
          </p:cNvCxnSpPr>
          <p:nvPr/>
        </p:nvCxnSpPr>
        <p:spPr>
          <a:xfrm rot="10800000" flipV="1">
            <a:off x="6198395" y="1137725"/>
            <a:ext cx="442539" cy="186250"/>
          </a:xfrm>
          <a:prstGeom prst="bentConnector3">
            <a:avLst>
              <a:gd name="adj1" fmla="val 100042"/>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83DB18DC-B1FA-8B04-740C-697C2C5701C5}"/>
              </a:ext>
            </a:extLst>
          </p:cNvPr>
          <p:cNvSpPr txBox="1"/>
          <p:nvPr/>
        </p:nvSpPr>
        <p:spPr>
          <a:xfrm>
            <a:off x="6443862" y="2400041"/>
            <a:ext cx="3717361" cy="461665"/>
          </a:xfrm>
          <a:prstGeom prst="rect">
            <a:avLst/>
          </a:prstGeom>
          <a:noFill/>
        </p:spPr>
        <p:txBody>
          <a:bodyPr wrap="square" rtlCol="0">
            <a:spAutoFit/>
          </a:bodyPr>
          <a:lstStyle/>
          <a:p>
            <a:r>
              <a:rPr lang="en-US" sz="1200" dirty="0">
                <a:solidFill>
                  <a:schemeClr val="accent5">
                    <a:lumMod val="60000"/>
                    <a:lumOff val="40000"/>
                  </a:schemeClr>
                </a:solidFill>
              </a:rPr>
              <a:t>Column headers can be clicked to toggle sorts (default by creation date descending, then sample ID)</a:t>
            </a:r>
          </a:p>
        </p:txBody>
      </p:sp>
      <p:sp>
        <p:nvSpPr>
          <p:cNvPr id="31" name="Rectangle 30">
            <a:extLst>
              <a:ext uri="{FF2B5EF4-FFF2-40B4-BE49-F238E27FC236}">
                <a16:creationId xmlns:a16="http://schemas.microsoft.com/office/drawing/2014/main" id="{99BA3C0F-6709-F8EE-5313-3A36EBA822C1}"/>
              </a:ext>
            </a:extLst>
          </p:cNvPr>
          <p:cNvSpPr/>
          <p:nvPr/>
        </p:nvSpPr>
        <p:spPr>
          <a:xfrm>
            <a:off x="293204" y="1276613"/>
            <a:ext cx="369332" cy="1845205"/>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32" name="TextBox 31">
            <a:extLst>
              <a:ext uri="{FF2B5EF4-FFF2-40B4-BE49-F238E27FC236}">
                <a16:creationId xmlns:a16="http://schemas.microsoft.com/office/drawing/2014/main" id="{03DDC293-2183-E404-A471-B4F3BB7228F6}"/>
              </a:ext>
            </a:extLst>
          </p:cNvPr>
          <p:cNvSpPr txBox="1"/>
          <p:nvPr/>
        </p:nvSpPr>
        <p:spPr>
          <a:xfrm>
            <a:off x="773938" y="1507053"/>
            <a:ext cx="2169149" cy="400110"/>
          </a:xfrm>
          <a:prstGeom prst="rect">
            <a:avLst/>
          </a:prstGeom>
          <a:noFill/>
        </p:spPr>
        <p:txBody>
          <a:bodyPr wrap="square" rtlCol="0">
            <a:spAutoFit/>
          </a:bodyPr>
          <a:lstStyle/>
          <a:p>
            <a:r>
              <a:rPr lang="en-US" sz="1000" dirty="0">
                <a:solidFill>
                  <a:schemeClr val="accent5">
                    <a:lumMod val="60000"/>
                    <a:lumOff val="40000"/>
                  </a:schemeClr>
                </a:solidFill>
                <a:hlinkClick r:id="rId4" action="ppaction://hlinksldjump"/>
              </a:rPr>
              <a:t>Hover</a:t>
            </a:r>
            <a:r>
              <a:rPr lang="en-US" sz="1000" dirty="0">
                <a:solidFill>
                  <a:schemeClr val="accent5">
                    <a:lumMod val="60000"/>
                    <a:lumOff val="40000"/>
                  </a:schemeClr>
                </a:solidFill>
              </a:rPr>
              <a:t> to expand, click to navigate between pages</a:t>
            </a:r>
          </a:p>
        </p:txBody>
      </p:sp>
      <p:cxnSp>
        <p:nvCxnSpPr>
          <p:cNvPr id="34" name="Connector: Elbow 33">
            <a:extLst>
              <a:ext uri="{FF2B5EF4-FFF2-40B4-BE49-F238E27FC236}">
                <a16:creationId xmlns:a16="http://schemas.microsoft.com/office/drawing/2014/main" id="{49DD986E-ACA2-1337-774D-D0AF1A6152BA}"/>
              </a:ext>
            </a:extLst>
          </p:cNvPr>
          <p:cNvCxnSpPr>
            <a:cxnSpLocks/>
            <a:stCxn id="32" idx="2"/>
          </p:cNvCxnSpPr>
          <p:nvPr/>
        </p:nvCxnSpPr>
        <p:spPr>
          <a:xfrm rot="5400000">
            <a:off x="1081419" y="1447629"/>
            <a:ext cx="358217" cy="1195973"/>
          </a:xfrm>
          <a:prstGeom prst="bentConnector2">
            <a:avLst/>
          </a:prstGeom>
          <a:ln>
            <a:tailEnd type="triangle"/>
          </a:ln>
        </p:spPr>
        <p:style>
          <a:lnRef idx="2">
            <a:schemeClr val="accent2"/>
          </a:lnRef>
          <a:fillRef idx="0">
            <a:schemeClr val="accent2"/>
          </a:fillRef>
          <a:effectRef idx="1">
            <a:schemeClr val="accent2"/>
          </a:effectRef>
          <a:fontRef idx="minor">
            <a:schemeClr val="tx1"/>
          </a:fontRef>
        </p:style>
      </p:cxnSp>
      <p:sp>
        <p:nvSpPr>
          <p:cNvPr id="3" name="TextBox 2">
            <a:extLst>
              <a:ext uri="{FF2B5EF4-FFF2-40B4-BE49-F238E27FC236}">
                <a16:creationId xmlns:a16="http://schemas.microsoft.com/office/drawing/2014/main" id="{25D64CFB-4B3D-58B2-E39F-4FCD4CC80195}"/>
              </a:ext>
            </a:extLst>
          </p:cNvPr>
          <p:cNvSpPr txBox="1"/>
          <p:nvPr/>
        </p:nvSpPr>
        <p:spPr>
          <a:xfrm>
            <a:off x="3170833" y="2045615"/>
            <a:ext cx="2893388" cy="461665"/>
          </a:xfrm>
          <a:prstGeom prst="rect">
            <a:avLst/>
          </a:prstGeom>
          <a:noFill/>
        </p:spPr>
        <p:txBody>
          <a:bodyPr wrap="square" rtlCol="0">
            <a:spAutoFit/>
          </a:bodyPr>
          <a:lstStyle/>
          <a:p>
            <a:r>
              <a:rPr lang="en-US" sz="1200" dirty="0">
                <a:solidFill>
                  <a:schemeClr val="accent5">
                    <a:lumMod val="60000"/>
                    <a:lumOff val="40000"/>
                  </a:schemeClr>
                </a:solidFill>
              </a:rPr>
              <a:t>You can filter by model/line here (finds all models/lines which </a:t>
            </a:r>
            <a:r>
              <a:rPr lang="en-US" sz="1200" i="1" dirty="0">
                <a:solidFill>
                  <a:schemeClr val="accent5">
                    <a:lumMod val="60000"/>
                    <a:lumOff val="40000"/>
                  </a:schemeClr>
                </a:solidFill>
              </a:rPr>
              <a:t>contain</a:t>
            </a:r>
            <a:r>
              <a:rPr lang="en-US" sz="1200" dirty="0">
                <a:solidFill>
                  <a:schemeClr val="accent5">
                    <a:lumMod val="60000"/>
                    <a:lumOff val="40000"/>
                  </a:schemeClr>
                </a:solidFill>
              </a:rPr>
              <a:t> your input)</a:t>
            </a:r>
          </a:p>
        </p:txBody>
      </p:sp>
      <p:sp>
        <p:nvSpPr>
          <p:cNvPr id="7" name="TextBox 6">
            <a:extLst>
              <a:ext uri="{FF2B5EF4-FFF2-40B4-BE49-F238E27FC236}">
                <a16:creationId xmlns:a16="http://schemas.microsoft.com/office/drawing/2014/main" id="{96F0F5DA-BD26-3B33-1C80-035060F58FD7}"/>
              </a:ext>
            </a:extLst>
          </p:cNvPr>
          <p:cNvSpPr txBox="1"/>
          <p:nvPr/>
        </p:nvSpPr>
        <p:spPr>
          <a:xfrm>
            <a:off x="8883725" y="1332666"/>
            <a:ext cx="3062910" cy="461665"/>
          </a:xfrm>
          <a:prstGeom prst="rect">
            <a:avLst/>
          </a:prstGeom>
          <a:noFill/>
        </p:spPr>
        <p:txBody>
          <a:bodyPr wrap="square" rtlCol="0">
            <a:spAutoFit/>
          </a:bodyPr>
          <a:lstStyle/>
          <a:p>
            <a:r>
              <a:rPr lang="en-US" sz="1200" dirty="0">
                <a:solidFill>
                  <a:schemeClr val="accent5">
                    <a:lumMod val="60000"/>
                    <a:lumOff val="40000"/>
                  </a:schemeClr>
                </a:solidFill>
              </a:rPr>
              <a:t>Use </a:t>
            </a:r>
            <a:r>
              <a:rPr lang="en-US" sz="1200" dirty="0">
                <a:solidFill>
                  <a:schemeClr val="accent5">
                    <a:lumMod val="60000"/>
                    <a:lumOff val="40000"/>
                  </a:schemeClr>
                </a:solidFill>
                <a:hlinkClick r:id="rId5" action="ppaction://hlinksldjump"/>
              </a:rPr>
              <a:t>print mode</a:t>
            </a:r>
            <a:r>
              <a:rPr lang="en-US" sz="1200" dirty="0">
                <a:solidFill>
                  <a:schemeClr val="accent5">
                    <a:lumMod val="60000"/>
                    <a:lumOff val="40000"/>
                  </a:schemeClr>
                </a:solidFill>
              </a:rPr>
              <a:t> if you want to select multiple samples to be printed in a batch</a:t>
            </a:r>
          </a:p>
        </p:txBody>
      </p:sp>
      <p:sp>
        <p:nvSpPr>
          <p:cNvPr id="13" name="TextBox 12">
            <a:extLst>
              <a:ext uri="{FF2B5EF4-FFF2-40B4-BE49-F238E27FC236}">
                <a16:creationId xmlns:a16="http://schemas.microsoft.com/office/drawing/2014/main" id="{E327F51C-287B-7410-2F20-2FC177D05922}"/>
              </a:ext>
            </a:extLst>
          </p:cNvPr>
          <p:cNvSpPr txBox="1"/>
          <p:nvPr/>
        </p:nvSpPr>
        <p:spPr>
          <a:xfrm>
            <a:off x="9195867" y="3144250"/>
            <a:ext cx="1381646" cy="830997"/>
          </a:xfrm>
          <a:prstGeom prst="rect">
            <a:avLst/>
          </a:prstGeom>
          <a:solidFill>
            <a:schemeClr val="bg1">
              <a:lumMod val="95000"/>
            </a:schemeClr>
          </a:solidFill>
        </p:spPr>
        <p:txBody>
          <a:bodyPr wrap="square" rtlCol="0">
            <a:spAutoFit/>
          </a:bodyPr>
          <a:lstStyle/>
          <a:p>
            <a:r>
              <a:rPr lang="en-US" sz="1200" dirty="0">
                <a:solidFill>
                  <a:schemeClr val="accent5">
                    <a:lumMod val="60000"/>
                    <a:lumOff val="40000"/>
                  </a:schemeClr>
                </a:solidFill>
              </a:rPr>
              <a:t>See more details</a:t>
            </a:r>
          </a:p>
          <a:p>
            <a:r>
              <a:rPr lang="en-US" sz="1200" dirty="0">
                <a:solidFill>
                  <a:schemeClr val="accent5">
                    <a:lumMod val="60000"/>
                    <a:lumOff val="40000"/>
                  </a:schemeClr>
                </a:solidFill>
              </a:rPr>
              <a:t>Request remake</a:t>
            </a:r>
          </a:p>
          <a:p>
            <a:r>
              <a:rPr lang="en-US" sz="1200" dirty="0">
                <a:solidFill>
                  <a:schemeClr val="accent5">
                    <a:lumMod val="60000"/>
                    <a:lumOff val="40000"/>
                  </a:schemeClr>
                </a:solidFill>
              </a:rPr>
              <a:t>Print individual</a:t>
            </a:r>
          </a:p>
          <a:p>
            <a:r>
              <a:rPr lang="en-US" sz="1200" dirty="0">
                <a:solidFill>
                  <a:schemeClr val="accent5">
                    <a:lumMod val="60000"/>
                    <a:lumOff val="40000"/>
                  </a:schemeClr>
                </a:solidFill>
              </a:rPr>
              <a:t>@ current DPI</a:t>
            </a:r>
          </a:p>
        </p:txBody>
      </p:sp>
      <p:cxnSp>
        <p:nvCxnSpPr>
          <p:cNvPr id="15" name="Connector: Elbow 14">
            <a:extLst>
              <a:ext uri="{FF2B5EF4-FFF2-40B4-BE49-F238E27FC236}">
                <a16:creationId xmlns:a16="http://schemas.microsoft.com/office/drawing/2014/main" id="{51B3BF5B-4759-A8D2-7027-A49B35D44F64}"/>
              </a:ext>
            </a:extLst>
          </p:cNvPr>
          <p:cNvCxnSpPr/>
          <p:nvPr/>
        </p:nvCxnSpPr>
        <p:spPr>
          <a:xfrm>
            <a:off x="10415180" y="3281363"/>
            <a:ext cx="481420" cy="4286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Connector: Elbow 17">
            <a:extLst>
              <a:ext uri="{FF2B5EF4-FFF2-40B4-BE49-F238E27FC236}">
                <a16:creationId xmlns:a16="http://schemas.microsoft.com/office/drawing/2014/main" id="{4FCE823D-CDA4-981B-A08F-C61E4118BC36}"/>
              </a:ext>
            </a:extLst>
          </p:cNvPr>
          <p:cNvCxnSpPr>
            <a:cxnSpLocks/>
          </p:cNvCxnSpPr>
          <p:nvPr/>
        </p:nvCxnSpPr>
        <p:spPr>
          <a:xfrm>
            <a:off x="10377488" y="3467415"/>
            <a:ext cx="859631" cy="90173"/>
          </a:xfrm>
          <a:prstGeom prst="bentConnector3">
            <a:avLst>
              <a:gd name="adj1" fmla="val 9986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Connector: Elbow 23">
            <a:extLst>
              <a:ext uri="{FF2B5EF4-FFF2-40B4-BE49-F238E27FC236}">
                <a16:creationId xmlns:a16="http://schemas.microsoft.com/office/drawing/2014/main" id="{2AD5ACF3-B615-5094-F1AE-1F2A249223BC}"/>
              </a:ext>
            </a:extLst>
          </p:cNvPr>
          <p:cNvCxnSpPr>
            <a:cxnSpLocks/>
          </p:cNvCxnSpPr>
          <p:nvPr/>
        </p:nvCxnSpPr>
        <p:spPr>
          <a:xfrm>
            <a:off x="10264775" y="3736975"/>
            <a:ext cx="1074176" cy="23733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6508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4B31475-6387-C304-D04F-10223A057AEC}"/>
              </a:ext>
            </a:extLst>
          </p:cNvPr>
          <p:cNvPicPr>
            <a:picLocks noChangeAspect="1"/>
          </p:cNvPicPr>
          <p:nvPr/>
        </p:nvPicPr>
        <p:blipFill>
          <a:blip r:embed="rId2"/>
          <a:stretch>
            <a:fillRect/>
          </a:stretch>
        </p:blipFill>
        <p:spPr>
          <a:xfrm>
            <a:off x="282805" y="905060"/>
            <a:ext cx="11623249" cy="5787333"/>
          </a:xfrm>
          <a:prstGeom prst="rect">
            <a:avLst/>
          </a:prstGeom>
        </p:spPr>
      </p:pic>
      <p:sp>
        <p:nvSpPr>
          <p:cNvPr id="2" name="Title 1">
            <a:extLst>
              <a:ext uri="{FF2B5EF4-FFF2-40B4-BE49-F238E27FC236}">
                <a16:creationId xmlns:a16="http://schemas.microsoft.com/office/drawing/2014/main" id="{9182EB8F-72DD-0E47-AF5C-098BEE44AAAC}"/>
              </a:ext>
            </a:extLst>
          </p:cNvPr>
          <p:cNvSpPr>
            <a:spLocks noGrp="1"/>
          </p:cNvSpPr>
          <p:nvPr>
            <p:ph type="title"/>
          </p:nvPr>
        </p:nvSpPr>
        <p:spPr/>
        <p:txBody>
          <a:bodyPr>
            <a:normAutofit fontScale="90000"/>
          </a:bodyPr>
          <a:lstStyle/>
          <a:p>
            <a:r>
              <a:rPr lang="en-US" dirty="0"/>
              <a:t>Sample creation</a:t>
            </a:r>
          </a:p>
        </p:txBody>
      </p:sp>
      <p:sp>
        <p:nvSpPr>
          <p:cNvPr id="6" name="TextBox 5">
            <a:extLst>
              <a:ext uri="{FF2B5EF4-FFF2-40B4-BE49-F238E27FC236}">
                <a16:creationId xmlns:a16="http://schemas.microsoft.com/office/drawing/2014/main" id="{5556ED65-25EB-71B6-51E5-9876DB80FBE9}"/>
              </a:ext>
            </a:extLst>
          </p:cNvPr>
          <p:cNvSpPr txBox="1"/>
          <p:nvPr/>
        </p:nvSpPr>
        <p:spPr>
          <a:xfrm>
            <a:off x="5132332" y="3379060"/>
            <a:ext cx="1071127" cy="276999"/>
          </a:xfrm>
          <a:prstGeom prst="rect">
            <a:avLst/>
          </a:prstGeom>
          <a:noFill/>
        </p:spPr>
        <p:txBody>
          <a:bodyPr wrap="none" rtlCol="0">
            <a:spAutoFit/>
          </a:bodyPr>
          <a:lstStyle/>
          <a:p>
            <a:r>
              <a:rPr lang="en-US" sz="1200" dirty="0">
                <a:solidFill>
                  <a:schemeClr val="accent5">
                    <a:lumMod val="60000"/>
                    <a:lumOff val="40000"/>
                  </a:schemeClr>
                </a:solidFill>
              </a:rPr>
              <a:t>Clear &amp; close</a:t>
            </a:r>
          </a:p>
        </p:txBody>
      </p:sp>
      <p:sp>
        <p:nvSpPr>
          <p:cNvPr id="7" name="TextBox 6">
            <a:extLst>
              <a:ext uri="{FF2B5EF4-FFF2-40B4-BE49-F238E27FC236}">
                <a16:creationId xmlns:a16="http://schemas.microsoft.com/office/drawing/2014/main" id="{DE19BCEF-B206-D49D-EE63-1599458FE230}"/>
              </a:ext>
            </a:extLst>
          </p:cNvPr>
          <p:cNvSpPr txBox="1"/>
          <p:nvPr/>
        </p:nvSpPr>
        <p:spPr>
          <a:xfrm>
            <a:off x="6203459" y="3379059"/>
            <a:ext cx="2508251" cy="276999"/>
          </a:xfrm>
          <a:prstGeom prst="rect">
            <a:avLst/>
          </a:prstGeom>
          <a:noFill/>
        </p:spPr>
        <p:txBody>
          <a:bodyPr wrap="none" rtlCol="0">
            <a:spAutoFit/>
          </a:bodyPr>
          <a:lstStyle/>
          <a:p>
            <a:r>
              <a:rPr lang="en-US" sz="1200" dirty="0">
                <a:solidFill>
                  <a:schemeClr val="accent5">
                    <a:lumMod val="60000"/>
                    <a:lumOff val="40000"/>
                  </a:schemeClr>
                </a:solidFill>
              </a:rPr>
              <a:t>Save (keep model/line info) &amp; close</a:t>
            </a:r>
          </a:p>
        </p:txBody>
      </p:sp>
      <p:sp>
        <p:nvSpPr>
          <p:cNvPr id="12" name="TextBox 11">
            <a:extLst>
              <a:ext uri="{FF2B5EF4-FFF2-40B4-BE49-F238E27FC236}">
                <a16:creationId xmlns:a16="http://schemas.microsoft.com/office/drawing/2014/main" id="{6917BA2A-8D36-36B9-807E-8B66B3A3D19A}"/>
              </a:ext>
            </a:extLst>
          </p:cNvPr>
          <p:cNvSpPr txBox="1"/>
          <p:nvPr/>
        </p:nvSpPr>
        <p:spPr>
          <a:xfrm>
            <a:off x="3099909" y="905060"/>
            <a:ext cx="5135972" cy="461665"/>
          </a:xfrm>
          <a:prstGeom prst="rect">
            <a:avLst/>
          </a:prstGeom>
          <a:noFill/>
        </p:spPr>
        <p:txBody>
          <a:bodyPr wrap="square" rtlCol="0">
            <a:spAutoFit/>
          </a:bodyPr>
          <a:lstStyle/>
          <a:p>
            <a:r>
              <a:rPr lang="en-US" sz="1200" dirty="0">
                <a:solidFill>
                  <a:schemeClr val="accent5">
                    <a:lumMod val="60000"/>
                    <a:lumOff val="40000"/>
                  </a:schemeClr>
                </a:solidFill>
              </a:rPr>
              <a:t>These validators trigger immediately when you click away or try to submit. To remove them, fix their problem, then click away/submit again.</a:t>
            </a:r>
          </a:p>
        </p:txBody>
      </p:sp>
      <p:sp>
        <p:nvSpPr>
          <p:cNvPr id="10" name="TextBox 9">
            <a:extLst>
              <a:ext uri="{FF2B5EF4-FFF2-40B4-BE49-F238E27FC236}">
                <a16:creationId xmlns:a16="http://schemas.microsoft.com/office/drawing/2014/main" id="{7152B04C-1439-F180-F154-7648F8DAF7F1}"/>
              </a:ext>
            </a:extLst>
          </p:cNvPr>
          <p:cNvSpPr txBox="1"/>
          <p:nvPr/>
        </p:nvSpPr>
        <p:spPr>
          <a:xfrm>
            <a:off x="1074656" y="2839801"/>
            <a:ext cx="3853305" cy="461665"/>
          </a:xfrm>
          <a:prstGeom prst="rect">
            <a:avLst/>
          </a:prstGeom>
          <a:noFill/>
        </p:spPr>
        <p:txBody>
          <a:bodyPr wrap="square" rtlCol="0">
            <a:spAutoFit/>
          </a:bodyPr>
          <a:lstStyle/>
          <a:p>
            <a:r>
              <a:rPr lang="en-US" sz="1200" dirty="0">
                <a:solidFill>
                  <a:schemeClr val="accent5">
                    <a:lumMod val="60000"/>
                    <a:lumOff val="40000"/>
                  </a:schemeClr>
                </a:solidFill>
              </a:rPr>
              <a:t>Dummy sample # and associate signature fields remain disabled until a good model-line pair is provided</a:t>
            </a:r>
          </a:p>
        </p:txBody>
      </p:sp>
    </p:spTree>
    <p:extLst>
      <p:ext uri="{BB962C8B-B14F-4D97-AF65-F5344CB8AC3E}">
        <p14:creationId xmlns:p14="http://schemas.microsoft.com/office/powerpoint/2010/main" val="3541067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4AD51-624E-D4E4-B3D8-6745C2AD1647}"/>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E792491-4656-F845-3115-A38A26E4A11D}"/>
              </a:ext>
            </a:extLst>
          </p:cNvPr>
          <p:cNvPicPr>
            <a:picLocks noChangeAspect="1"/>
          </p:cNvPicPr>
          <p:nvPr/>
        </p:nvPicPr>
        <p:blipFill>
          <a:blip r:embed="rId2"/>
          <a:stretch>
            <a:fillRect/>
          </a:stretch>
        </p:blipFill>
        <p:spPr>
          <a:xfrm>
            <a:off x="295372" y="905059"/>
            <a:ext cx="11601256" cy="5800628"/>
          </a:xfrm>
          <a:prstGeom prst="rect">
            <a:avLst/>
          </a:prstGeom>
        </p:spPr>
      </p:pic>
      <p:sp>
        <p:nvSpPr>
          <p:cNvPr id="2" name="Title 1">
            <a:extLst>
              <a:ext uri="{FF2B5EF4-FFF2-40B4-BE49-F238E27FC236}">
                <a16:creationId xmlns:a16="http://schemas.microsoft.com/office/drawing/2014/main" id="{D4C8DF8C-F43E-F75A-597E-8BB58EA646F0}"/>
              </a:ext>
            </a:extLst>
          </p:cNvPr>
          <p:cNvSpPr>
            <a:spLocks noGrp="1"/>
          </p:cNvSpPr>
          <p:nvPr>
            <p:ph type="title"/>
          </p:nvPr>
        </p:nvSpPr>
        <p:spPr/>
        <p:txBody>
          <a:bodyPr>
            <a:normAutofit fontScale="90000"/>
          </a:bodyPr>
          <a:lstStyle/>
          <a:p>
            <a:r>
              <a:rPr lang="en-US" dirty="0"/>
              <a:t>Sample creation</a:t>
            </a:r>
          </a:p>
        </p:txBody>
      </p:sp>
      <p:sp>
        <p:nvSpPr>
          <p:cNvPr id="6" name="TextBox 5">
            <a:extLst>
              <a:ext uri="{FF2B5EF4-FFF2-40B4-BE49-F238E27FC236}">
                <a16:creationId xmlns:a16="http://schemas.microsoft.com/office/drawing/2014/main" id="{44B6CEE1-FC1E-0D1E-EE10-99EA23E8077F}"/>
              </a:ext>
            </a:extLst>
          </p:cNvPr>
          <p:cNvSpPr txBox="1"/>
          <p:nvPr/>
        </p:nvSpPr>
        <p:spPr>
          <a:xfrm>
            <a:off x="5017097" y="2953315"/>
            <a:ext cx="1071127" cy="276999"/>
          </a:xfrm>
          <a:prstGeom prst="rect">
            <a:avLst/>
          </a:prstGeom>
          <a:noFill/>
        </p:spPr>
        <p:txBody>
          <a:bodyPr wrap="none" rtlCol="0">
            <a:spAutoFit/>
          </a:bodyPr>
          <a:lstStyle/>
          <a:p>
            <a:r>
              <a:rPr lang="en-US" sz="1200" dirty="0">
                <a:solidFill>
                  <a:schemeClr val="accent5">
                    <a:lumMod val="60000"/>
                    <a:lumOff val="40000"/>
                  </a:schemeClr>
                </a:solidFill>
              </a:rPr>
              <a:t>Clear &amp; close</a:t>
            </a:r>
          </a:p>
        </p:txBody>
      </p:sp>
      <p:sp>
        <p:nvSpPr>
          <p:cNvPr id="7" name="TextBox 6">
            <a:extLst>
              <a:ext uri="{FF2B5EF4-FFF2-40B4-BE49-F238E27FC236}">
                <a16:creationId xmlns:a16="http://schemas.microsoft.com/office/drawing/2014/main" id="{C5F09EBE-E15D-8922-0F31-EA1F4BAF0481}"/>
              </a:ext>
            </a:extLst>
          </p:cNvPr>
          <p:cNvSpPr txBox="1"/>
          <p:nvPr/>
        </p:nvSpPr>
        <p:spPr>
          <a:xfrm>
            <a:off x="6203459" y="2953315"/>
            <a:ext cx="2508251" cy="276999"/>
          </a:xfrm>
          <a:prstGeom prst="rect">
            <a:avLst/>
          </a:prstGeom>
          <a:noFill/>
        </p:spPr>
        <p:txBody>
          <a:bodyPr wrap="none" rtlCol="0">
            <a:spAutoFit/>
          </a:bodyPr>
          <a:lstStyle/>
          <a:p>
            <a:r>
              <a:rPr lang="en-US" sz="1200" dirty="0">
                <a:solidFill>
                  <a:schemeClr val="accent5">
                    <a:lumMod val="60000"/>
                    <a:lumOff val="40000"/>
                  </a:schemeClr>
                </a:solidFill>
              </a:rPr>
              <a:t>Save (keep model/line info) &amp; close</a:t>
            </a:r>
          </a:p>
        </p:txBody>
      </p:sp>
      <p:sp>
        <p:nvSpPr>
          <p:cNvPr id="12" name="TextBox 11">
            <a:extLst>
              <a:ext uri="{FF2B5EF4-FFF2-40B4-BE49-F238E27FC236}">
                <a16:creationId xmlns:a16="http://schemas.microsoft.com/office/drawing/2014/main" id="{80A12C88-0996-0797-A23B-5C27FFB8BD8A}"/>
              </a:ext>
            </a:extLst>
          </p:cNvPr>
          <p:cNvSpPr txBox="1"/>
          <p:nvPr/>
        </p:nvSpPr>
        <p:spPr>
          <a:xfrm>
            <a:off x="3099909" y="905060"/>
            <a:ext cx="5135972" cy="461665"/>
          </a:xfrm>
          <a:prstGeom prst="rect">
            <a:avLst/>
          </a:prstGeom>
          <a:noFill/>
        </p:spPr>
        <p:txBody>
          <a:bodyPr wrap="square" rtlCol="0">
            <a:spAutoFit/>
          </a:bodyPr>
          <a:lstStyle/>
          <a:p>
            <a:r>
              <a:rPr lang="en-US" sz="1200" dirty="0">
                <a:solidFill>
                  <a:schemeClr val="accent5">
                    <a:lumMod val="60000"/>
                    <a:lumOff val="40000"/>
                  </a:schemeClr>
                </a:solidFill>
              </a:rPr>
              <a:t>These validators trigger immediately when you click away or try to submit. To remove them, fix their problem, then click away/submit again.</a:t>
            </a:r>
          </a:p>
        </p:txBody>
      </p:sp>
      <p:sp>
        <p:nvSpPr>
          <p:cNvPr id="13" name="TextBox 12">
            <a:extLst>
              <a:ext uri="{FF2B5EF4-FFF2-40B4-BE49-F238E27FC236}">
                <a16:creationId xmlns:a16="http://schemas.microsoft.com/office/drawing/2014/main" id="{5E5D0297-10EF-ED0B-2913-3657B86E74E7}"/>
              </a:ext>
            </a:extLst>
          </p:cNvPr>
          <p:cNvSpPr txBox="1"/>
          <p:nvPr/>
        </p:nvSpPr>
        <p:spPr>
          <a:xfrm>
            <a:off x="8711710" y="2792667"/>
            <a:ext cx="2319644" cy="461665"/>
          </a:xfrm>
          <a:prstGeom prst="rect">
            <a:avLst/>
          </a:prstGeom>
          <a:noFill/>
        </p:spPr>
        <p:txBody>
          <a:bodyPr wrap="square" rtlCol="0">
            <a:spAutoFit/>
          </a:bodyPr>
          <a:lstStyle/>
          <a:p>
            <a:r>
              <a:rPr lang="en-US" sz="1200" dirty="0">
                <a:solidFill>
                  <a:schemeClr val="accent5">
                    <a:lumMod val="60000"/>
                    <a:lumOff val="40000"/>
                  </a:schemeClr>
                </a:solidFill>
              </a:rPr>
              <a:t>See the next page for what a successful addition looks like.</a:t>
            </a:r>
          </a:p>
        </p:txBody>
      </p:sp>
      <p:sp>
        <p:nvSpPr>
          <p:cNvPr id="10" name="TextBox 9">
            <a:extLst>
              <a:ext uri="{FF2B5EF4-FFF2-40B4-BE49-F238E27FC236}">
                <a16:creationId xmlns:a16="http://schemas.microsoft.com/office/drawing/2014/main" id="{AFAA0748-C8A0-905C-001B-09E6A7796881}"/>
              </a:ext>
            </a:extLst>
          </p:cNvPr>
          <p:cNvSpPr txBox="1"/>
          <p:nvPr/>
        </p:nvSpPr>
        <p:spPr>
          <a:xfrm>
            <a:off x="886120" y="2561834"/>
            <a:ext cx="3987538" cy="461665"/>
          </a:xfrm>
          <a:prstGeom prst="rect">
            <a:avLst/>
          </a:prstGeom>
          <a:noFill/>
        </p:spPr>
        <p:txBody>
          <a:bodyPr wrap="square" rtlCol="0">
            <a:spAutoFit/>
          </a:bodyPr>
          <a:lstStyle/>
          <a:p>
            <a:r>
              <a:rPr lang="en-US" sz="1200" dirty="0">
                <a:solidFill>
                  <a:schemeClr val="accent5">
                    <a:lumMod val="60000"/>
                    <a:lumOff val="40000"/>
                  </a:schemeClr>
                </a:solidFill>
              </a:rPr>
              <a:t>Dummy sample # dropdown populates with dummy sample numbers from the FP data sheet(s) for this model</a:t>
            </a:r>
          </a:p>
        </p:txBody>
      </p:sp>
    </p:spTree>
    <p:extLst>
      <p:ext uri="{BB962C8B-B14F-4D97-AF65-F5344CB8AC3E}">
        <p14:creationId xmlns:p14="http://schemas.microsoft.com/office/powerpoint/2010/main" val="2150938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04B39CB-B88B-400A-1ED6-ADF8D5D57B0C}"/>
              </a:ext>
            </a:extLst>
          </p:cNvPr>
          <p:cNvPicPr>
            <a:picLocks noChangeAspect="1"/>
          </p:cNvPicPr>
          <p:nvPr/>
        </p:nvPicPr>
        <p:blipFill>
          <a:blip r:embed="rId2"/>
          <a:stretch>
            <a:fillRect/>
          </a:stretch>
        </p:blipFill>
        <p:spPr>
          <a:xfrm>
            <a:off x="297873" y="905060"/>
            <a:ext cx="11702659" cy="5851330"/>
          </a:xfrm>
          <a:prstGeom prst="rect">
            <a:avLst/>
          </a:prstGeom>
        </p:spPr>
      </p:pic>
      <p:sp>
        <p:nvSpPr>
          <p:cNvPr id="2" name="Title 1">
            <a:extLst>
              <a:ext uri="{FF2B5EF4-FFF2-40B4-BE49-F238E27FC236}">
                <a16:creationId xmlns:a16="http://schemas.microsoft.com/office/drawing/2014/main" id="{3D902F91-27AD-A88E-E82C-E7AEE3658EF3}"/>
              </a:ext>
            </a:extLst>
          </p:cNvPr>
          <p:cNvSpPr>
            <a:spLocks noGrp="1"/>
          </p:cNvSpPr>
          <p:nvPr>
            <p:ph type="title"/>
          </p:nvPr>
        </p:nvSpPr>
        <p:spPr/>
        <p:txBody>
          <a:bodyPr>
            <a:normAutofit fontScale="90000"/>
          </a:bodyPr>
          <a:lstStyle/>
          <a:p>
            <a:r>
              <a:rPr lang="en-US" dirty="0"/>
              <a:t>Successful sample creation</a:t>
            </a:r>
          </a:p>
        </p:txBody>
      </p:sp>
      <p:sp>
        <p:nvSpPr>
          <p:cNvPr id="6" name="TextBox 5">
            <a:extLst>
              <a:ext uri="{FF2B5EF4-FFF2-40B4-BE49-F238E27FC236}">
                <a16:creationId xmlns:a16="http://schemas.microsoft.com/office/drawing/2014/main" id="{E126F708-8B49-6C0A-10B1-D81B06091C5C}"/>
              </a:ext>
            </a:extLst>
          </p:cNvPr>
          <p:cNvSpPr txBox="1"/>
          <p:nvPr/>
        </p:nvSpPr>
        <p:spPr>
          <a:xfrm>
            <a:off x="8493550" y="905060"/>
            <a:ext cx="3176833" cy="461665"/>
          </a:xfrm>
          <a:prstGeom prst="rect">
            <a:avLst/>
          </a:prstGeom>
          <a:noFill/>
        </p:spPr>
        <p:txBody>
          <a:bodyPr wrap="square" rtlCol="0">
            <a:spAutoFit/>
          </a:bodyPr>
          <a:lstStyle/>
          <a:p>
            <a:r>
              <a:rPr lang="en-US" sz="1200" dirty="0">
                <a:solidFill>
                  <a:schemeClr val="accent5">
                    <a:lumMod val="60000"/>
                    <a:lumOff val="40000"/>
                  </a:schemeClr>
                </a:solidFill>
              </a:rPr>
              <a:t>Fun fact: the message that briefly appears on success is called a toast</a:t>
            </a:r>
          </a:p>
        </p:txBody>
      </p:sp>
      <p:sp>
        <p:nvSpPr>
          <p:cNvPr id="7" name="TextBox 6">
            <a:extLst>
              <a:ext uri="{FF2B5EF4-FFF2-40B4-BE49-F238E27FC236}">
                <a16:creationId xmlns:a16="http://schemas.microsoft.com/office/drawing/2014/main" id="{97137BB4-B7D6-B553-5130-9D37B0202013}"/>
              </a:ext>
            </a:extLst>
          </p:cNvPr>
          <p:cNvSpPr txBox="1"/>
          <p:nvPr/>
        </p:nvSpPr>
        <p:spPr>
          <a:xfrm>
            <a:off x="6370118" y="5952940"/>
            <a:ext cx="5524009" cy="461665"/>
          </a:xfrm>
          <a:prstGeom prst="rect">
            <a:avLst/>
          </a:prstGeom>
          <a:solidFill>
            <a:schemeClr val="bg1">
              <a:lumMod val="95000"/>
            </a:schemeClr>
          </a:solidFill>
        </p:spPr>
        <p:txBody>
          <a:bodyPr wrap="square" rtlCol="0">
            <a:spAutoFit/>
          </a:bodyPr>
          <a:lstStyle/>
          <a:p>
            <a:r>
              <a:rPr lang="en-US" sz="1200" dirty="0">
                <a:solidFill>
                  <a:schemeClr val="accent5">
                    <a:lumMod val="60000"/>
                    <a:lumOff val="40000"/>
                  </a:schemeClr>
                </a:solidFill>
              </a:rPr>
              <a:t>As a rule of thumb, if the app doesn’t yell at you and the form closes, it worked. But in case you’re not convinced, you’ll see a little message telling you it worked.</a:t>
            </a:r>
          </a:p>
        </p:txBody>
      </p:sp>
    </p:spTree>
    <p:extLst>
      <p:ext uri="{BB962C8B-B14F-4D97-AF65-F5344CB8AC3E}">
        <p14:creationId xmlns:p14="http://schemas.microsoft.com/office/powerpoint/2010/main" val="3514542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6380D87-8B13-6278-E665-95A555A3A528}"/>
              </a:ext>
            </a:extLst>
          </p:cNvPr>
          <p:cNvPicPr>
            <a:picLocks noChangeAspect="1"/>
          </p:cNvPicPr>
          <p:nvPr/>
        </p:nvPicPr>
        <p:blipFill>
          <a:blip r:embed="rId2"/>
          <a:stretch>
            <a:fillRect/>
          </a:stretch>
        </p:blipFill>
        <p:spPr>
          <a:xfrm>
            <a:off x="311084" y="905061"/>
            <a:ext cx="11566689" cy="5771246"/>
          </a:xfrm>
          <a:prstGeom prst="rect">
            <a:avLst/>
          </a:prstGeom>
        </p:spPr>
      </p:pic>
      <p:sp>
        <p:nvSpPr>
          <p:cNvPr id="2" name="Title 1">
            <a:extLst>
              <a:ext uri="{FF2B5EF4-FFF2-40B4-BE49-F238E27FC236}">
                <a16:creationId xmlns:a16="http://schemas.microsoft.com/office/drawing/2014/main" id="{A63A7C61-1230-B8AB-E571-77D57ECCDCB4}"/>
              </a:ext>
            </a:extLst>
          </p:cNvPr>
          <p:cNvSpPr>
            <a:spLocks noGrp="1"/>
          </p:cNvSpPr>
          <p:nvPr>
            <p:ph type="title"/>
          </p:nvPr>
        </p:nvSpPr>
        <p:spPr/>
        <p:txBody>
          <a:bodyPr>
            <a:normAutofit fontScale="90000"/>
          </a:bodyPr>
          <a:lstStyle/>
          <a:p>
            <a:r>
              <a:rPr lang="en-US" dirty="0"/>
              <a:t>Print mode</a:t>
            </a:r>
          </a:p>
        </p:txBody>
      </p:sp>
      <p:sp>
        <p:nvSpPr>
          <p:cNvPr id="6" name="TextBox 5">
            <a:extLst>
              <a:ext uri="{FF2B5EF4-FFF2-40B4-BE49-F238E27FC236}">
                <a16:creationId xmlns:a16="http://schemas.microsoft.com/office/drawing/2014/main" id="{5B355B17-5827-137C-FC0C-D6D3C1F492CE}"/>
              </a:ext>
            </a:extLst>
          </p:cNvPr>
          <p:cNvSpPr txBox="1"/>
          <p:nvPr/>
        </p:nvSpPr>
        <p:spPr>
          <a:xfrm>
            <a:off x="7572375" y="1967201"/>
            <a:ext cx="1857432" cy="461665"/>
          </a:xfrm>
          <a:prstGeom prst="rect">
            <a:avLst/>
          </a:prstGeom>
          <a:noFill/>
        </p:spPr>
        <p:txBody>
          <a:bodyPr wrap="none" rtlCol="0">
            <a:spAutoFit/>
          </a:bodyPr>
          <a:lstStyle/>
          <a:p>
            <a:r>
              <a:rPr lang="en-US" sz="1200" dirty="0">
                <a:solidFill>
                  <a:schemeClr val="accent5">
                    <a:lumMod val="60000"/>
                    <a:lumOff val="40000"/>
                  </a:schemeClr>
                </a:solidFill>
              </a:rPr>
              <a:t>Change print DPI</a:t>
            </a:r>
          </a:p>
          <a:p>
            <a:r>
              <a:rPr lang="en-US" sz="1200" dirty="0">
                <a:solidFill>
                  <a:schemeClr val="accent5">
                    <a:lumMod val="60000"/>
                    <a:lumOff val="40000"/>
                  </a:schemeClr>
                </a:solidFill>
              </a:rPr>
              <a:t>(can set default in config)</a:t>
            </a:r>
          </a:p>
        </p:txBody>
      </p:sp>
      <p:cxnSp>
        <p:nvCxnSpPr>
          <p:cNvPr id="8" name="Straight Arrow Connector 7">
            <a:extLst>
              <a:ext uri="{FF2B5EF4-FFF2-40B4-BE49-F238E27FC236}">
                <a16:creationId xmlns:a16="http://schemas.microsoft.com/office/drawing/2014/main" id="{FD0DF0E5-2CA6-9590-DC9A-466484D34516}"/>
              </a:ext>
            </a:extLst>
          </p:cNvPr>
          <p:cNvCxnSpPr>
            <a:cxnSpLocks/>
          </p:cNvCxnSpPr>
          <p:nvPr/>
        </p:nvCxnSpPr>
        <p:spPr>
          <a:xfrm flipV="1">
            <a:off x="8788302" y="2025650"/>
            <a:ext cx="279498" cy="1723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6FB2B785-C61A-7AE6-6A29-978411FFDC4D}"/>
              </a:ext>
            </a:extLst>
          </p:cNvPr>
          <p:cNvSpPr txBox="1"/>
          <p:nvPr/>
        </p:nvSpPr>
        <p:spPr>
          <a:xfrm>
            <a:off x="9372657" y="1477805"/>
            <a:ext cx="1226618" cy="276999"/>
          </a:xfrm>
          <a:prstGeom prst="rect">
            <a:avLst/>
          </a:prstGeom>
          <a:noFill/>
        </p:spPr>
        <p:txBody>
          <a:bodyPr wrap="none" rtlCol="0">
            <a:spAutoFit/>
          </a:bodyPr>
          <a:lstStyle/>
          <a:p>
            <a:r>
              <a:rPr lang="en-US" sz="1200" dirty="0">
                <a:solidFill>
                  <a:schemeClr val="accent5">
                    <a:lumMod val="60000"/>
                    <a:lumOff val="40000"/>
                  </a:schemeClr>
                </a:solidFill>
              </a:rPr>
              <a:t>Exit print mode</a:t>
            </a:r>
          </a:p>
        </p:txBody>
      </p:sp>
      <p:sp>
        <p:nvSpPr>
          <p:cNvPr id="12" name="TextBox 11">
            <a:extLst>
              <a:ext uri="{FF2B5EF4-FFF2-40B4-BE49-F238E27FC236}">
                <a16:creationId xmlns:a16="http://schemas.microsoft.com/office/drawing/2014/main" id="{AA6EF203-5F9A-E697-28BD-A26ED62CEAE8}"/>
              </a:ext>
            </a:extLst>
          </p:cNvPr>
          <p:cNvSpPr txBox="1"/>
          <p:nvPr/>
        </p:nvSpPr>
        <p:spPr>
          <a:xfrm>
            <a:off x="4261228" y="855847"/>
            <a:ext cx="3669544" cy="523220"/>
          </a:xfrm>
          <a:prstGeom prst="rect">
            <a:avLst/>
          </a:prstGeom>
          <a:noFill/>
        </p:spPr>
        <p:txBody>
          <a:bodyPr wrap="square" rtlCol="0">
            <a:spAutoFit/>
          </a:bodyPr>
          <a:lstStyle/>
          <a:p>
            <a:r>
              <a:rPr lang="en-US" sz="1400" dirty="0">
                <a:solidFill>
                  <a:schemeClr val="accent5">
                    <a:lumMod val="60000"/>
                    <a:lumOff val="40000"/>
                  </a:schemeClr>
                </a:solidFill>
              </a:rPr>
              <a:t>This is what you see when you press the “Enter Print Mode” button in the upper right </a:t>
            </a:r>
          </a:p>
        </p:txBody>
      </p:sp>
      <p:sp>
        <p:nvSpPr>
          <p:cNvPr id="9" name="TextBox 8">
            <a:extLst>
              <a:ext uri="{FF2B5EF4-FFF2-40B4-BE49-F238E27FC236}">
                <a16:creationId xmlns:a16="http://schemas.microsoft.com/office/drawing/2014/main" id="{5E6433D9-EC67-0855-64F4-70E7AB321583}"/>
              </a:ext>
            </a:extLst>
          </p:cNvPr>
          <p:cNvSpPr txBox="1"/>
          <p:nvPr/>
        </p:nvSpPr>
        <p:spPr>
          <a:xfrm>
            <a:off x="10700875" y="1293139"/>
            <a:ext cx="976775" cy="461665"/>
          </a:xfrm>
          <a:prstGeom prst="rect">
            <a:avLst/>
          </a:prstGeom>
          <a:noFill/>
        </p:spPr>
        <p:txBody>
          <a:bodyPr wrap="square" rtlCol="0">
            <a:spAutoFit/>
          </a:bodyPr>
          <a:lstStyle/>
          <a:p>
            <a:r>
              <a:rPr lang="en-US" sz="1200" dirty="0">
                <a:solidFill>
                  <a:schemeClr val="accent5">
                    <a:lumMod val="60000"/>
                    <a:lumOff val="40000"/>
                  </a:schemeClr>
                </a:solidFill>
              </a:rPr>
              <a:t>Send batch to printer</a:t>
            </a:r>
          </a:p>
        </p:txBody>
      </p:sp>
      <p:sp>
        <p:nvSpPr>
          <p:cNvPr id="3" name="TextBox 2">
            <a:extLst>
              <a:ext uri="{FF2B5EF4-FFF2-40B4-BE49-F238E27FC236}">
                <a16:creationId xmlns:a16="http://schemas.microsoft.com/office/drawing/2014/main" id="{65F59B32-4D2D-56F2-5EA4-B1BC8F822E23}"/>
              </a:ext>
            </a:extLst>
          </p:cNvPr>
          <p:cNvSpPr txBox="1"/>
          <p:nvPr/>
        </p:nvSpPr>
        <p:spPr>
          <a:xfrm>
            <a:off x="5620675" y="2502763"/>
            <a:ext cx="5359031" cy="276999"/>
          </a:xfrm>
          <a:prstGeom prst="rect">
            <a:avLst/>
          </a:prstGeom>
          <a:noFill/>
        </p:spPr>
        <p:txBody>
          <a:bodyPr wrap="none" rtlCol="0">
            <a:spAutoFit/>
          </a:bodyPr>
          <a:lstStyle/>
          <a:p>
            <a:r>
              <a:rPr lang="en-US" sz="1200" dirty="0">
                <a:solidFill>
                  <a:schemeClr val="accent5">
                    <a:lumMod val="60000"/>
                    <a:lumOff val="40000"/>
                  </a:schemeClr>
                </a:solidFill>
              </a:rPr>
              <a:t>Note that already-approved samples are hidden, so they may not be re-printed</a:t>
            </a:r>
          </a:p>
        </p:txBody>
      </p:sp>
    </p:spTree>
    <p:extLst>
      <p:ext uri="{BB962C8B-B14F-4D97-AF65-F5344CB8AC3E}">
        <p14:creationId xmlns:p14="http://schemas.microsoft.com/office/powerpoint/2010/main" val="1577836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C640FD-E20E-9FED-9582-E92C0696D482}"/>
              </a:ext>
            </a:extLst>
          </p:cNvPr>
          <p:cNvPicPr>
            <a:picLocks noChangeAspect="1"/>
          </p:cNvPicPr>
          <p:nvPr/>
        </p:nvPicPr>
        <p:blipFill>
          <a:blip r:embed="rId2"/>
          <a:stretch>
            <a:fillRect/>
          </a:stretch>
        </p:blipFill>
        <p:spPr>
          <a:xfrm>
            <a:off x="320512" y="905061"/>
            <a:ext cx="11566688" cy="5753128"/>
          </a:xfrm>
          <a:prstGeom prst="rect">
            <a:avLst/>
          </a:prstGeom>
        </p:spPr>
      </p:pic>
      <p:sp>
        <p:nvSpPr>
          <p:cNvPr id="2" name="Title 1">
            <a:extLst>
              <a:ext uri="{FF2B5EF4-FFF2-40B4-BE49-F238E27FC236}">
                <a16:creationId xmlns:a16="http://schemas.microsoft.com/office/drawing/2014/main" id="{F031888A-8945-68C8-0520-9448F8A394EB}"/>
              </a:ext>
            </a:extLst>
          </p:cNvPr>
          <p:cNvSpPr>
            <a:spLocks noGrp="1"/>
          </p:cNvSpPr>
          <p:nvPr>
            <p:ph type="title"/>
          </p:nvPr>
        </p:nvSpPr>
        <p:spPr/>
        <p:txBody>
          <a:bodyPr>
            <a:normAutofit fontScale="90000"/>
          </a:bodyPr>
          <a:lstStyle/>
          <a:p>
            <a:r>
              <a:rPr lang="en-US" dirty="0"/>
              <a:t>During a print</a:t>
            </a:r>
          </a:p>
        </p:txBody>
      </p:sp>
      <p:sp>
        <p:nvSpPr>
          <p:cNvPr id="6" name="TextBox 5">
            <a:extLst>
              <a:ext uri="{FF2B5EF4-FFF2-40B4-BE49-F238E27FC236}">
                <a16:creationId xmlns:a16="http://schemas.microsoft.com/office/drawing/2014/main" id="{6E11AE5D-04A7-B0B9-FE4F-E94713C10232}"/>
              </a:ext>
            </a:extLst>
          </p:cNvPr>
          <p:cNvSpPr txBox="1"/>
          <p:nvPr/>
        </p:nvSpPr>
        <p:spPr>
          <a:xfrm>
            <a:off x="9992414" y="905060"/>
            <a:ext cx="1781665" cy="646331"/>
          </a:xfrm>
          <a:prstGeom prst="rect">
            <a:avLst/>
          </a:prstGeom>
          <a:noFill/>
        </p:spPr>
        <p:txBody>
          <a:bodyPr wrap="square" rtlCol="0">
            <a:spAutoFit/>
          </a:bodyPr>
          <a:lstStyle/>
          <a:p>
            <a:r>
              <a:rPr lang="en-US" sz="1200" dirty="0">
                <a:solidFill>
                  <a:schemeClr val="accent5">
                    <a:lumMod val="60000"/>
                    <a:lumOff val="40000"/>
                  </a:schemeClr>
                </a:solidFill>
              </a:rPr>
              <a:t>When you press “Confirm Print”, you’ll get this loading spinner</a:t>
            </a:r>
          </a:p>
        </p:txBody>
      </p:sp>
      <p:sp>
        <p:nvSpPr>
          <p:cNvPr id="5" name="TextBox 4">
            <a:extLst>
              <a:ext uri="{FF2B5EF4-FFF2-40B4-BE49-F238E27FC236}">
                <a16:creationId xmlns:a16="http://schemas.microsoft.com/office/drawing/2014/main" id="{67E7B197-27AC-4373-FDA8-288EE409ECC5}"/>
              </a:ext>
            </a:extLst>
          </p:cNvPr>
          <p:cNvSpPr txBox="1"/>
          <p:nvPr/>
        </p:nvSpPr>
        <p:spPr>
          <a:xfrm>
            <a:off x="7472675" y="1044760"/>
            <a:ext cx="2595154" cy="646331"/>
          </a:xfrm>
          <a:prstGeom prst="rect">
            <a:avLst/>
          </a:prstGeom>
          <a:noFill/>
        </p:spPr>
        <p:txBody>
          <a:bodyPr wrap="square" rtlCol="0">
            <a:spAutoFit/>
          </a:bodyPr>
          <a:lstStyle/>
          <a:p>
            <a:r>
              <a:rPr lang="en-US" sz="1200" dirty="0">
                <a:solidFill>
                  <a:schemeClr val="accent5">
                    <a:lumMod val="60000"/>
                    <a:lumOff val="40000"/>
                  </a:schemeClr>
                </a:solidFill>
              </a:rPr>
              <a:t>You can press “Cancel Print” at any time to terminate the print job and return to the </a:t>
            </a:r>
            <a:r>
              <a:rPr lang="en-US" sz="1200" dirty="0">
                <a:solidFill>
                  <a:schemeClr val="accent5">
                    <a:lumMod val="60000"/>
                    <a:lumOff val="40000"/>
                  </a:schemeClr>
                </a:solidFill>
                <a:hlinkClick r:id="rId3" action="ppaction://hlinksldjump"/>
              </a:rPr>
              <a:t>print staging screen</a:t>
            </a:r>
            <a:endParaRPr lang="en-US" sz="1200" dirty="0">
              <a:solidFill>
                <a:schemeClr val="accent5">
                  <a:lumMod val="60000"/>
                  <a:lumOff val="40000"/>
                </a:schemeClr>
              </a:solidFill>
            </a:endParaRPr>
          </a:p>
        </p:txBody>
      </p:sp>
    </p:spTree>
    <p:extLst>
      <p:ext uri="{BB962C8B-B14F-4D97-AF65-F5344CB8AC3E}">
        <p14:creationId xmlns:p14="http://schemas.microsoft.com/office/powerpoint/2010/main" val="233815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51164-EDB6-8F53-E615-921A11EA9D98}"/>
              </a:ext>
            </a:extLst>
          </p:cNvPr>
          <p:cNvSpPr>
            <a:spLocks noGrp="1"/>
          </p:cNvSpPr>
          <p:nvPr>
            <p:ph type="title"/>
          </p:nvPr>
        </p:nvSpPr>
        <p:spPr/>
        <p:txBody>
          <a:bodyPr>
            <a:normAutofit fontScale="90000"/>
          </a:bodyPr>
          <a:lstStyle/>
          <a:p>
            <a:r>
              <a:rPr lang="en-US" dirty="0"/>
              <a:t>Failed print</a:t>
            </a:r>
          </a:p>
        </p:txBody>
      </p:sp>
      <p:pic>
        <p:nvPicPr>
          <p:cNvPr id="5" name="Picture 4">
            <a:extLst>
              <a:ext uri="{FF2B5EF4-FFF2-40B4-BE49-F238E27FC236}">
                <a16:creationId xmlns:a16="http://schemas.microsoft.com/office/drawing/2014/main" id="{ED670ABD-7F1A-D236-F59D-059D4E47540D}"/>
              </a:ext>
            </a:extLst>
          </p:cNvPr>
          <p:cNvPicPr>
            <a:picLocks noChangeAspect="1"/>
          </p:cNvPicPr>
          <p:nvPr/>
        </p:nvPicPr>
        <p:blipFill>
          <a:blip r:embed="rId2"/>
          <a:stretch>
            <a:fillRect/>
          </a:stretch>
        </p:blipFill>
        <p:spPr>
          <a:xfrm>
            <a:off x="281233" y="905060"/>
            <a:ext cx="11568260" cy="5796231"/>
          </a:xfrm>
          <a:prstGeom prst="rect">
            <a:avLst/>
          </a:prstGeom>
        </p:spPr>
      </p:pic>
      <p:sp>
        <p:nvSpPr>
          <p:cNvPr id="7" name="TextBox 6">
            <a:extLst>
              <a:ext uri="{FF2B5EF4-FFF2-40B4-BE49-F238E27FC236}">
                <a16:creationId xmlns:a16="http://schemas.microsoft.com/office/drawing/2014/main" id="{3B101E8A-95F5-05C5-278D-EACEFF4434CA}"/>
              </a:ext>
            </a:extLst>
          </p:cNvPr>
          <p:cNvSpPr txBox="1"/>
          <p:nvPr/>
        </p:nvSpPr>
        <p:spPr>
          <a:xfrm>
            <a:off x="7098384" y="1008668"/>
            <a:ext cx="4496585" cy="830997"/>
          </a:xfrm>
          <a:prstGeom prst="rect">
            <a:avLst/>
          </a:prstGeom>
          <a:noFill/>
        </p:spPr>
        <p:txBody>
          <a:bodyPr wrap="square" rtlCol="0">
            <a:spAutoFit/>
          </a:bodyPr>
          <a:lstStyle/>
          <a:p>
            <a:r>
              <a:rPr lang="en-US" sz="1200" dirty="0">
                <a:solidFill>
                  <a:schemeClr val="accent5">
                    <a:lumMod val="60000"/>
                    <a:lumOff val="40000"/>
                  </a:schemeClr>
                </a:solidFill>
              </a:rPr>
              <a:t>There’s a couple reasons a print might fail, but the most common one is that the computer simply can’t find the printer. Make sure the environment variable in </a:t>
            </a:r>
            <a:r>
              <a:rPr lang="en-US" sz="1200" dirty="0">
                <a:solidFill>
                  <a:schemeClr val="accent5">
                    <a:lumMod val="60000"/>
                    <a:lumOff val="40000"/>
                  </a:schemeClr>
                </a:solidFill>
                <a:hlinkClick r:id="rId3" action="ppaction://hlinksldjump"/>
              </a:rPr>
              <a:t>the .bat file</a:t>
            </a:r>
            <a:r>
              <a:rPr lang="en-US" sz="1200" dirty="0">
                <a:solidFill>
                  <a:schemeClr val="accent5">
                    <a:lumMod val="60000"/>
                    <a:lumOff val="40000"/>
                  </a:schemeClr>
                </a:solidFill>
              </a:rPr>
              <a:t> has the right IP address, and you’re on the same network as the printer.</a:t>
            </a:r>
          </a:p>
        </p:txBody>
      </p:sp>
    </p:spTree>
    <p:extLst>
      <p:ext uri="{BB962C8B-B14F-4D97-AF65-F5344CB8AC3E}">
        <p14:creationId xmlns:p14="http://schemas.microsoft.com/office/powerpoint/2010/main" val="4137292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E0CD0-C9DB-7EA0-FDC1-3183B397AD6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45936BD-F24F-6FA7-32F6-59F87ED664AD}"/>
              </a:ext>
            </a:extLst>
          </p:cNvPr>
          <p:cNvPicPr>
            <a:picLocks noChangeAspect="1"/>
          </p:cNvPicPr>
          <p:nvPr/>
        </p:nvPicPr>
        <p:blipFill>
          <a:blip r:embed="rId2"/>
          <a:stretch>
            <a:fillRect/>
          </a:stretch>
        </p:blipFill>
        <p:spPr>
          <a:xfrm>
            <a:off x="304800" y="905060"/>
            <a:ext cx="11553825" cy="5755774"/>
          </a:xfrm>
          <a:prstGeom prst="rect">
            <a:avLst/>
          </a:prstGeom>
        </p:spPr>
      </p:pic>
      <p:sp>
        <p:nvSpPr>
          <p:cNvPr id="2" name="Title 1">
            <a:extLst>
              <a:ext uri="{FF2B5EF4-FFF2-40B4-BE49-F238E27FC236}">
                <a16:creationId xmlns:a16="http://schemas.microsoft.com/office/drawing/2014/main" id="{E3575280-0382-B9E5-13A6-B12057E94063}"/>
              </a:ext>
            </a:extLst>
          </p:cNvPr>
          <p:cNvSpPr>
            <a:spLocks noGrp="1"/>
          </p:cNvSpPr>
          <p:nvPr>
            <p:ph type="title"/>
          </p:nvPr>
        </p:nvSpPr>
        <p:spPr/>
        <p:txBody>
          <a:bodyPr>
            <a:normAutofit fontScale="90000"/>
          </a:bodyPr>
          <a:lstStyle/>
          <a:p>
            <a:r>
              <a:rPr lang="en-US" dirty="0"/>
              <a:t>Upload model mappings</a:t>
            </a:r>
          </a:p>
        </p:txBody>
      </p:sp>
      <p:sp>
        <p:nvSpPr>
          <p:cNvPr id="10" name="TextBox 9">
            <a:extLst>
              <a:ext uri="{FF2B5EF4-FFF2-40B4-BE49-F238E27FC236}">
                <a16:creationId xmlns:a16="http://schemas.microsoft.com/office/drawing/2014/main" id="{40F9E787-298F-4E8C-0E11-EE0F768E08C6}"/>
              </a:ext>
            </a:extLst>
          </p:cNvPr>
          <p:cNvSpPr txBox="1"/>
          <p:nvPr/>
        </p:nvSpPr>
        <p:spPr>
          <a:xfrm>
            <a:off x="4245365" y="2022148"/>
            <a:ext cx="3701270" cy="276999"/>
          </a:xfrm>
          <a:prstGeom prst="rect">
            <a:avLst/>
          </a:prstGeom>
          <a:noFill/>
        </p:spPr>
        <p:txBody>
          <a:bodyPr wrap="none" rtlCol="0">
            <a:spAutoFit/>
          </a:bodyPr>
          <a:lstStyle/>
          <a:p>
            <a:r>
              <a:rPr lang="en-US" sz="1200" dirty="0">
                <a:solidFill>
                  <a:schemeClr val="accent5">
                    <a:lumMod val="60000"/>
                    <a:lumOff val="40000"/>
                  </a:schemeClr>
                </a:solidFill>
              </a:rPr>
              <a:t>Click button or drag/drop to this area to upload a CSV</a:t>
            </a:r>
          </a:p>
        </p:txBody>
      </p:sp>
      <p:sp>
        <p:nvSpPr>
          <p:cNvPr id="3" name="TextBox 2">
            <a:extLst>
              <a:ext uri="{FF2B5EF4-FFF2-40B4-BE49-F238E27FC236}">
                <a16:creationId xmlns:a16="http://schemas.microsoft.com/office/drawing/2014/main" id="{8FC65874-604C-6AE4-E715-0930BD5B599A}"/>
              </a:ext>
            </a:extLst>
          </p:cNvPr>
          <p:cNvSpPr txBox="1"/>
          <p:nvPr/>
        </p:nvSpPr>
        <p:spPr>
          <a:xfrm>
            <a:off x="3216665" y="970588"/>
            <a:ext cx="6049156" cy="276999"/>
          </a:xfrm>
          <a:prstGeom prst="rect">
            <a:avLst/>
          </a:prstGeom>
          <a:noFill/>
        </p:spPr>
        <p:txBody>
          <a:bodyPr wrap="none" rtlCol="0">
            <a:spAutoFit/>
          </a:bodyPr>
          <a:lstStyle/>
          <a:p>
            <a:r>
              <a:rPr lang="en-US" sz="1200" dirty="0">
                <a:solidFill>
                  <a:schemeClr val="accent5">
                    <a:lumMod val="60000"/>
                    <a:lumOff val="40000"/>
                  </a:schemeClr>
                </a:solidFill>
              </a:rPr>
              <a:t>Because this is a destructive upload, it is only available to associates with the admin role</a:t>
            </a:r>
          </a:p>
        </p:txBody>
      </p:sp>
    </p:spTree>
    <p:extLst>
      <p:ext uri="{BB962C8B-B14F-4D97-AF65-F5344CB8AC3E}">
        <p14:creationId xmlns:p14="http://schemas.microsoft.com/office/powerpoint/2010/main" val="3239207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307CEEF-BB8E-C5E7-965C-C111C4E91561}"/>
              </a:ext>
            </a:extLst>
          </p:cNvPr>
          <p:cNvPicPr>
            <a:picLocks noChangeAspect="1"/>
          </p:cNvPicPr>
          <p:nvPr/>
        </p:nvPicPr>
        <p:blipFill>
          <a:blip r:embed="rId2"/>
          <a:stretch>
            <a:fillRect/>
          </a:stretch>
        </p:blipFill>
        <p:spPr>
          <a:xfrm>
            <a:off x="314325" y="905060"/>
            <a:ext cx="11560324" cy="5752969"/>
          </a:xfrm>
          <a:prstGeom prst="rect">
            <a:avLst/>
          </a:prstGeom>
        </p:spPr>
      </p:pic>
      <p:sp>
        <p:nvSpPr>
          <p:cNvPr id="2" name="Title 1">
            <a:extLst>
              <a:ext uri="{FF2B5EF4-FFF2-40B4-BE49-F238E27FC236}">
                <a16:creationId xmlns:a16="http://schemas.microsoft.com/office/drawing/2014/main" id="{EF1A11BC-959E-17EE-3924-576C94C09A55}"/>
              </a:ext>
            </a:extLst>
          </p:cNvPr>
          <p:cNvSpPr>
            <a:spLocks noGrp="1"/>
          </p:cNvSpPr>
          <p:nvPr>
            <p:ph type="title"/>
          </p:nvPr>
        </p:nvSpPr>
        <p:spPr/>
        <p:txBody>
          <a:bodyPr>
            <a:normAutofit fontScale="90000"/>
          </a:bodyPr>
          <a:lstStyle/>
          <a:p>
            <a:r>
              <a:rPr lang="en-US" dirty="0"/>
              <a:t>CSV upload confirmation</a:t>
            </a:r>
          </a:p>
        </p:txBody>
      </p:sp>
      <p:sp>
        <p:nvSpPr>
          <p:cNvPr id="6" name="TextBox 5">
            <a:extLst>
              <a:ext uri="{FF2B5EF4-FFF2-40B4-BE49-F238E27FC236}">
                <a16:creationId xmlns:a16="http://schemas.microsoft.com/office/drawing/2014/main" id="{2721500B-280D-67E6-1422-DE1D9A7E1E32}"/>
              </a:ext>
            </a:extLst>
          </p:cNvPr>
          <p:cNvSpPr txBox="1"/>
          <p:nvPr/>
        </p:nvSpPr>
        <p:spPr>
          <a:xfrm>
            <a:off x="4263350" y="3086013"/>
            <a:ext cx="3665299" cy="276999"/>
          </a:xfrm>
          <a:prstGeom prst="rect">
            <a:avLst/>
          </a:prstGeom>
          <a:noFill/>
        </p:spPr>
        <p:txBody>
          <a:bodyPr wrap="none" rtlCol="0">
            <a:spAutoFit/>
          </a:bodyPr>
          <a:lstStyle/>
          <a:p>
            <a:r>
              <a:rPr lang="en-US" sz="1200" dirty="0">
                <a:solidFill>
                  <a:schemeClr val="accent5">
                    <a:lumMod val="60000"/>
                    <a:lumOff val="40000"/>
                  </a:schemeClr>
                </a:solidFill>
              </a:rPr>
              <a:t>Either file upload method gives you this confirmation</a:t>
            </a:r>
          </a:p>
        </p:txBody>
      </p:sp>
    </p:spTree>
    <p:extLst>
      <p:ext uri="{BB962C8B-B14F-4D97-AF65-F5344CB8AC3E}">
        <p14:creationId xmlns:p14="http://schemas.microsoft.com/office/powerpoint/2010/main" val="3116791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A80C57-5E06-05F0-1372-B9E31D2D30AA}"/>
              </a:ext>
            </a:extLst>
          </p:cNvPr>
          <p:cNvPicPr>
            <a:picLocks noChangeAspect="1"/>
          </p:cNvPicPr>
          <p:nvPr/>
        </p:nvPicPr>
        <p:blipFill>
          <a:blip r:embed="rId2"/>
          <a:stretch>
            <a:fillRect/>
          </a:stretch>
        </p:blipFill>
        <p:spPr>
          <a:xfrm>
            <a:off x="320511" y="905061"/>
            <a:ext cx="11606911" cy="5797398"/>
          </a:xfrm>
          <a:prstGeom prst="rect">
            <a:avLst/>
          </a:prstGeom>
        </p:spPr>
      </p:pic>
      <p:sp>
        <p:nvSpPr>
          <p:cNvPr id="2" name="Title 1">
            <a:extLst>
              <a:ext uri="{FF2B5EF4-FFF2-40B4-BE49-F238E27FC236}">
                <a16:creationId xmlns:a16="http://schemas.microsoft.com/office/drawing/2014/main" id="{45D93199-8250-6C00-D549-B9B41252C91A}"/>
              </a:ext>
            </a:extLst>
          </p:cNvPr>
          <p:cNvSpPr>
            <a:spLocks noGrp="1"/>
          </p:cNvSpPr>
          <p:nvPr>
            <p:ph type="title"/>
          </p:nvPr>
        </p:nvSpPr>
        <p:spPr/>
        <p:txBody>
          <a:bodyPr>
            <a:normAutofit fontScale="90000"/>
          </a:bodyPr>
          <a:lstStyle/>
          <a:p>
            <a:r>
              <a:rPr lang="en-US" dirty="0"/>
              <a:t>CSV upload progress updates</a:t>
            </a:r>
          </a:p>
        </p:txBody>
      </p:sp>
      <p:sp>
        <p:nvSpPr>
          <p:cNvPr id="8" name="TextBox 7">
            <a:extLst>
              <a:ext uri="{FF2B5EF4-FFF2-40B4-BE49-F238E27FC236}">
                <a16:creationId xmlns:a16="http://schemas.microsoft.com/office/drawing/2014/main" id="{09B2CCE3-29F4-360F-B114-BC1AB268E8F3}"/>
              </a:ext>
            </a:extLst>
          </p:cNvPr>
          <p:cNvSpPr txBox="1"/>
          <p:nvPr/>
        </p:nvSpPr>
        <p:spPr>
          <a:xfrm>
            <a:off x="8471621" y="6142781"/>
            <a:ext cx="3536289" cy="276999"/>
          </a:xfrm>
          <a:prstGeom prst="rect">
            <a:avLst/>
          </a:prstGeom>
          <a:noFill/>
        </p:spPr>
        <p:txBody>
          <a:bodyPr wrap="none" rtlCol="0">
            <a:spAutoFit/>
          </a:bodyPr>
          <a:lstStyle/>
          <a:p>
            <a:r>
              <a:rPr lang="en-US" sz="1200" dirty="0">
                <a:solidFill>
                  <a:schemeClr val="accent5">
                    <a:lumMod val="60000"/>
                    <a:lumOff val="40000"/>
                  </a:schemeClr>
                </a:solidFill>
              </a:rPr>
              <a:t>After a successful upload, you’ll see this message.</a:t>
            </a:r>
          </a:p>
        </p:txBody>
      </p:sp>
      <p:sp>
        <p:nvSpPr>
          <p:cNvPr id="10" name="TextBox 9">
            <a:extLst>
              <a:ext uri="{FF2B5EF4-FFF2-40B4-BE49-F238E27FC236}">
                <a16:creationId xmlns:a16="http://schemas.microsoft.com/office/drawing/2014/main" id="{65F1E29E-7630-6390-7AE4-67F2597D73DF}"/>
              </a:ext>
            </a:extLst>
          </p:cNvPr>
          <p:cNvSpPr txBox="1"/>
          <p:nvPr/>
        </p:nvSpPr>
        <p:spPr>
          <a:xfrm>
            <a:off x="7456601" y="1467402"/>
            <a:ext cx="3401238" cy="461665"/>
          </a:xfrm>
          <a:prstGeom prst="rect">
            <a:avLst/>
          </a:prstGeom>
          <a:noFill/>
        </p:spPr>
        <p:txBody>
          <a:bodyPr wrap="square" rtlCol="0">
            <a:spAutoFit/>
          </a:bodyPr>
          <a:lstStyle/>
          <a:p>
            <a:r>
              <a:rPr lang="en-US" sz="1200" dirty="0">
                <a:solidFill>
                  <a:schemeClr val="accent5">
                    <a:lumMod val="60000"/>
                    <a:lumOff val="40000"/>
                  </a:schemeClr>
                </a:solidFill>
              </a:rPr>
              <a:t>As long as the CSV you upload is in the </a:t>
            </a:r>
            <a:r>
              <a:rPr lang="en-US" sz="1200" dirty="0" err="1">
                <a:solidFill>
                  <a:schemeClr val="accent5">
                    <a:lumMod val="60000"/>
                    <a:lumOff val="40000"/>
                  </a:schemeClr>
                </a:solidFill>
              </a:rPr>
              <a:t>C.Core</a:t>
            </a:r>
            <a:r>
              <a:rPr lang="en-US" sz="1200" dirty="0">
                <a:solidFill>
                  <a:schemeClr val="accent5">
                    <a:lumMod val="60000"/>
                    <a:lumOff val="40000"/>
                  </a:schemeClr>
                </a:solidFill>
              </a:rPr>
              <a:t> format, you shouldn’t have any problems</a:t>
            </a:r>
          </a:p>
        </p:txBody>
      </p:sp>
    </p:spTree>
    <p:extLst>
      <p:ext uri="{BB962C8B-B14F-4D97-AF65-F5344CB8AC3E}">
        <p14:creationId xmlns:p14="http://schemas.microsoft.com/office/powerpoint/2010/main" val="4058351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B7B5B-ED35-205A-CA2F-B72AA425EEC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C89C9E4-2091-6938-9E4A-16E34FDC1325}"/>
              </a:ext>
            </a:extLst>
          </p:cNvPr>
          <p:cNvPicPr>
            <a:picLocks noChangeAspect="1"/>
          </p:cNvPicPr>
          <p:nvPr/>
        </p:nvPicPr>
        <p:blipFill>
          <a:blip r:embed="rId2"/>
          <a:stretch>
            <a:fillRect/>
          </a:stretch>
        </p:blipFill>
        <p:spPr>
          <a:xfrm>
            <a:off x="301658" y="902703"/>
            <a:ext cx="11651530" cy="5807502"/>
          </a:xfrm>
          <a:prstGeom prst="rect">
            <a:avLst/>
          </a:prstGeom>
        </p:spPr>
      </p:pic>
      <p:sp>
        <p:nvSpPr>
          <p:cNvPr id="2" name="Title 1">
            <a:extLst>
              <a:ext uri="{FF2B5EF4-FFF2-40B4-BE49-F238E27FC236}">
                <a16:creationId xmlns:a16="http://schemas.microsoft.com/office/drawing/2014/main" id="{F6ADF4E2-82E1-891C-B98B-A8588815B969}"/>
              </a:ext>
            </a:extLst>
          </p:cNvPr>
          <p:cNvSpPr>
            <a:spLocks noGrp="1"/>
          </p:cNvSpPr>
          <p:nvPr>
            <p:ph type="title"/>
          </p:nvPr>
        </p:nvSpPr>
        <p:spPr/>
        <p:txBody>
          <a:bodyPr>
            <a:normAutofit fontScale="90000"/>
          </a:bodyPr>
          <a:lstStyle/>
          <a:p>
            <a:r>
              <a:rPr lang="en-US" dirty="0"/>
              <a:t>Upload FP data sheets</a:t>
            </a:r>
          </a:p>
        </p:txBody>
      </p:sp>
      <p:sp>
        <p:nvSpPr>
          <p:cNvPr id="5" name="TextBox 4">
            <a:extLst>
              <a:ext uri="{FF2B5EF4-FFF2-40B4-BE49-F238E27FC236}">
                <a16:creationId xmlns:a16="http://schemas.microsoft.com/office/drawing/2014/main" id="{E82C2DB5-44E6-1177-B693-792AD893CB62}"/>
              </a:ext>
            </a:extLst>
          </p:cNvPr>
          <p:cNvSpPr txBox="1"/>
          <p:nvPr/>
        </p:nvSpPr>
        <p:spPr>
          <a:xfrm>
            <a:off x="3106009" y="3436620"/>
            <a:ext cx="4362092" cy="276999"/>
          </a:xfrm>
          <a:prstGeom prst="rect">
            <a:avLst/>
          </a:prstGeom>
          <a:noFill/>
        </p:spPr>
        <p:txBody>
          <a:bodyPr wrap="none" rtlCol="0">
            <a:spAutoFit/>
          </a:bodyPr>
          <a:lstStyle/>
          <a:p>
            <a:r>
              <a:rPr lang="en-US" sz="1200" dirty="0">
                <a:solidFill>
                  <a:schemeClr val="accent5">
                    <a:lumMod val="60000"/>
                    <a:lumOff val="40000"/>
                  </a:schemeClr>
                </a:solidFill>
              </a:rPr>
              <a:t>Default sort is by descending issue date, then ascending model </a:t>
            </a:r>
          </a:p>
        </p:txBody>
      </p:sp>
      <p:sp>
        <p:nvSpPr>
          <p:cNvPr id="6" name="TextBox 5">
            <a:extLst>
              <a:ext uri="{FF2B5EF4-FFF2-40B4-BE49-F238E27FC236}">
                <a16:creationId xmlns:a16="http://schemas.microsoft.com/office/drawing/2014/main" id="{B2D67BEA-42AD-FF82-5256-A746D5FEB7AE}"/>
              </a:ext>
            </a:extLst>
          </p:cNvPr>
          <p:cNvSpPr txBox="1"/>
          <p:nvPr/>
        </p:nvSpPr>
        <p:spPr>
          <a:xfrm>
            <a:off x="3321655" y="1654503"/>
            <a:ext cx="5611536" cy="276999"/>
          </a:xfrm>
          <a:prstGeom prst="rect">
            <a:avLst/>
          </a:prstGeom>
          <a:noFill/>
        </p:spPr>
        <p:txBody>
          <a:bodyPr wrap="none" rtlCol="0">
            <a:spAutoFit/>
          </a:bodyPr>
          <a:lstStyle/>
          <a:p>
            <a:r>
              <a:rPr lang="en-US" sz="1200" dirty="0">
                <a:solidFill>
                  <a:schemeClr val="accent5">
                    <a:lumMod val="60000"/>
                    <a:lumOff val="40000"/>
                  </a:schemeClr>
                </a:solidFill>
              </a:rPr>
              <a:t>Click button or drag/drop to this area to upload one or more Excel files (.</a:t>
            </a:r>
            <a:r>
              <a:rPr lang="en-US" sz="1200" dirty="0" err="1">
                <a:solidFill>
                  <a:schemeClr val="accent5">
                    <a:lumMod val="60000"/>
                    <a:lumOff val="40000"/>
                  </a:schemeClr>
                </a:solidFill>
              </a:rPr>
              <a:t>xls</a:t>
            </a:r>
            <a:r>
              <a:rPr lang="en-US" sz="1200" dirty="0">
                <a:solidFill>
                  <a:schemeClr val="accent5">
                    <a:lumMod val="60000"/>
                    <a:lumOff val="40000"/>
                  </a:schemeClr>
                </a:solidFill>
              </a:rPr>
              <a:t> or .xlsx)</a:t>
            </a:r>
          </a:p>
        </p:txBody>
      </p:sp>
      <p:sp>
        <p:nvSpPr>
          <p:cNvPr id="7" name="TextBox 6">
            <a:extLst>
              <a:ext uri="{FF2B5EF4-FFF2-40B4-BE49-F238E27FC236}">
                <a16:creationId xmlns:a16="http://schemas.microsoft.com/office/drawing/2014/main" id="{769E9843-3116-CF45-8ADC-E9F56394586B}"/>
              </a:ext>
            </a:extLst>
          </p:cNvPr>
          <p:cNvSpPr txBox="1"/>
          <p:nvPr/>
        </p:nvSpPr>
        <p:spPr>
          <a:xfrm>
            <a:off x="7468101" y="900231"/>
            <a:ext cx="4406690" cy="646331"/>
          </a:xfrm>
          <a:prstGeom prst="rect">
            <a:avLst/>
          </a:prstGeom>
          <a:noFill/>
        </p:spPr>
        <p:txBody>
          <a:bodyPr wrap="square" rtlCol="0">
            <a:spAutoFit/>
          </a:bodyPr>
          <a:lstStyle/>
          <a:p>
            <a:r>
              <a:rPr lang="en-US" sz="1200" dirty="0">
                <a:solidFill>
                  <a:schemeClr val="accent5">
                    <a:lumMod val="60000"/>
                    <a:lumOff val="40000"/>
                  </a:schemeClr>
                </a:solidFill>
              </a:rPr>
              <a:t>Unfortunately, this uploader is more manual, as the model names on the FP data sheets don’t match those in C. Core. For that reason, I don’t recommend doing more than 10 at once.</a:t>
            </a:r>
          </a:p>
        </p:txBody>
      </p:sp>
    </p:spTree>
    <p:extLst>
      <p:ext uri="{BB962C8B-B14F-4D97-AF65-F5344CB8AC3E}">
        <p14:creationId xmlns:p14="http://schemas.microsoft.com/office/powerpoint/2010/main" val="3505136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15C0B-B1F8-F405-B6ED-E6FA1EDA7DA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BA21CAE-F721-52B9-CA84-E2B5839F0658}"/>
              </a:ext>
            </a:extLst>
          </p:cNvPr>
          <p:cNvPicPr>
            <a:picLocks noChangeAspect="1"/>
          </p:cNvPicPr>
          <p:nvPr/>
        </p:nvPicPr>
        <p:blipFill>
          <a:blip r:embed="rId2"/>
          <a:stretch>
            <a:fillRect/>
          </a:stretch>
        </p:blipFill>
        <p:spPr>
          <a:xfrm>
            <a:off x="301657" y="905061"/>
            <a:ext cx="11576116" cy="5757786"/>
          </a:xfrm>
          <a:prstGeom prst="rect">
            <a:avLst/>
          </a:prstGeom>
        </p:spPr>
      </p:pic>
      <p:sp>
        <p:nvSpPr>
          <p:cNvPr id="2" name="Title 1">
            <a:extLst>
              <a:ext uri="{FF2B5EF4-FFF2-40B4-BE49-F238E27FC236}">
                <a16:creationId xmlns:a16="http://schemas.microsoft.com/office/drawing/2014/main" id="{95FBE25F-7935-3797-6962-EE28F5CF64CE}"/>
              </a:ext>
            </a:extLst>
          </p:cNvPr>
          <p:cNvSpPr>
            <a:spLocks noGrp="1"/>
          </p:cNvSpPr>
          <p:nvPr>
            <p:ph type="title"/>
          </p:nvPr>
        </p:nvSpPr>
        <p:spPr/>
        <p:txBody>
          <a:bodyPr>
            <a:normAutofit fontScale="90000"/>
          </a:bodyPr>
          <a:lstStyle/>
          <a:p>
            <a:r>
              <a:rPr lang="en-US" dirty="0"/>
              <a:t>Confirm file selection</a:t>
            </a:r>
          </a:p>
        </p:txBody>
      </p:sp>
      <p:sp>
        <p:nvSpPr>
          <p:cNvPr id="6" name="TextBox 5">
            <a:extLst>
              <a:ext uri="{FF2B5EF4-FFF2-40B4-BE49-F238E27FC236}">
                <a16:creationId xmlns:a16="http://schemas.microsoft.com/office/drawing/2014/main" id="{FD26BA92-92A4-FE4D-E800-3A9BD9566F2C}"/>
              </a:ext>
            </a:extLst>
          </p:cNvPr>
          <p:cNvSpPr txBox="1"/>
          <p:nvPr/>
        </p:nvSpPr>
        <p:spPr>
          <a:xfrm>
            <a:off x="3099010" y="2370941"/>
            <a:ext cx="6803594" cy="276999"/>
          </a:xfrm>
          <a:prstGeom prst="rect">
            <a:avLst/>
          </a:prstGeom>
          <a:noFill/>
        </p:spPr>
        <p:txBody>
          <a:bodyPr wrap="none" rtlCol="0">
            <a:spAutoFit/>
          </a:bodyPr>
          <a:lstStyle/>
          <a:p>
            <a:r>
              <a:rPr lang="en-US" sz="1200" dirty="0">
                <a:solidFill>
                  <a:schemeClr val="accent5">
                    <a:lumMod val="60000"/>
                    <a:lumOff val="40000"/>
                  </a:schemeClr>
                </a:solidFill>
              </a:rPr>
              <a:t>Selecting your file(s) will get you here. Double-check they all look good, then hit proceed with upload.</a:t>
            </a:r>
          </a:p>
        </p:txBody>
      </p:sp>
    </p:spTree>
    <p:extLst>
      <p:ext uri="{BB962C8B-B14F-4D97-AF65-F5344CB8AC3E}">
        <p14:creationId xmlns:p14="http://schemas.microsoft.com/office/powerpoint/2010/main" val="7300501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70E61-0547-2A3F-2F2A-35B6502A4386}"/>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A1E8A0AE-0C21-63D2-5861-3DD545CC1DEF}"/>
              </a:ext>
            </a:extLst>
          </p:cNvPr>
          <p:cNvPicPr>
            <a:picLocks noChangeAspect="1"/>
          </p:cNvPicPr>
          <p:nvPr/>
        </p:nvPicPr>
        <p:blipFill>
          <a:blip r:embed="rId2"/>
          <a:stretch>
            <a:fillRect/>
          </a:stretch>
        </p:blipFill>
        <p:spPr>
          <a:xfrm>
            <a:off x="301657" y="905060"/>
            <a:ext cx="11576116" cy="5769894"/>
          </a:xfrm>
          <a:prstGeom prst="rect">
            <a:avLst/>
          </a:prstGeom>
        </p:spPr>
      </p:pic>
      <p:sp>
        <p:nvSpPr>
          <p:cNvPr id="2" name="Title 1">
            <a:extLst>
              <a:ext uri="{FF2B5EF4-FFF2-40B4-BE49-F238E27FC236}">
                <a16:creationId xmlns:a16="http://schemas.microsoft.com/office/drawing/2014/main" id="{DACE5099-9025-4503-8C09-346BCF2EC356}"/>
              </a:ext>
            </a:extLst>
          </p:cNvPr>
          <p:cNvSpPr>
            <a:spLocks noGrp="1"/>
          </p:cNvSpPr>
          <p:nvPr>
            <p:ph type="title"/>
          </p:nvPr>
        </p:nvSpPr>
        <p:spPr/>
        <p:txBody>
          <a:bodyPr>
            <a:normAutofit fontScale="90000"/>
          </a:bodyPr>
          <a:lstStyle/>
          <a:p>
            <a:r>
              <a:rPr lang="en-US" dirty="0"/>
              <a:t>Specify model name</a:t>
            </a:r>
          </a:p>
        </p:txBody>
      </p:sp>
      <p:sp>
        <p:nvSpPr>
          <p:cNvPr id="6" name="TextBox 5">
            <a:extLst>
              <a:ext uri="{FF2B5EF4-FFF2-40B4-BE49-F238E27FC236}">
                <a16:creationId xmlns:a16="http://schemas.microsoft.com/office/drawing/2014/main" id="{C53E25FE-1A00-1CD9-AE54-023DB2A6B4EE}"/>
              </a:ext>
            </a:extLst>
          </p:cNvPr>
          <p:cNvSpPr txBox="1"/>
          <p:nvPr/>
        </p:nvSpPr>
        <p:spPr>
          <a:xfrm>
            <a:off x="836577" y="1446464"/>
            <a:ext cx="4342984" cy="276999"/>
          </a:xfrm>
          <a:prstGeom prst="rect">
            <a:avLst/>
          </a:prstGeom>
          <a:noFill/>
        </p:spPr>
        <p:txBody>
          <a:bodyPr wrap="none" rtlCol="0">
            <a:spAutoFit/>
          </a:bodyPr>
          <a:lstStyle/>
          <a:p>
            <a:r>
              <a:rPr lang="en-US" sz="1200" dirty="0">
                <a:solidFill>
                  <a:schemeClr val="accent5">
                    <a:lumMod val="60000"/>
                    <a:lumOff val="40000"/>
                  </a:schemeClr>
                </a:solidFill>
              </a:rPr>
              <a:t>Each file has two parts: model identification, then column filter.</a:t>
            </a:r>
          </a:p>
        </p:txBody>
      </p:sp>
      <p:sp>
        <p:nvSpPr>
          <p:cNvPr id="5" name="TextBox 4">
            <a:extLst>
              <a:ext uri="{FF2B5EF4-FFF2-40B4-BE49-F238E27FC236}">
                <a16:creationId xmlns:a16="http://schemas.microsoft.com/office/drawing/2014/main" id="{1E642FAC-11EA-CF46-8D67-81FD883CB781}"/>
              </a:ext>
            </a:extLst>
          </p:cNvPr>
          <p:cNvSpPr txBox="1"/>
          <p:nvPr/>
        </p:nvSpPr>
        <p:spPr>
          <a:xfrm>
            <a:off x="836577" y="2814922"/>
            <a:ext cx="3398623" cy="276999"/>
          </a:xfrm>
          <a:prstGeom prst="rect">
            <a:avLst/>
          </a:prstGeom>
          <a:noFill/>
        </p:spPr>
        <p:txBody>
          <a:bodyPr wrap="none" rtlCol="0">
            <a:spAutoFit/>
          </a:bodyPr>
          <a:lstStyle/>
          <a:p>
            <a:r>
              <a:rPr lang="en-US" sz="1200" dirty="0">
                <a:solidFill>
                  <a:schemeClr val="accent5">
                    <a:lumMod val="60000"/>
                    <a:lumOff val="40000"/>
                  </a:schemeClr>
                </a:solidFill>
              </a:rPr>
              <a:t>If you realize you don’t want this file, just hit skip.</a:t>
            </a:r>
          </a:p>
        </p:txBody>
      </p:sp>
      <p:sp>
        <p:nvSpPr>
          <p:cNvPr id="7" name="TextBox 6">
            <a:extLst>
              <a:ext uri="{FF2B5EF4-FFF2-40B4-BE49-F238E27FC236}">
                <a16:creationId xmlns:a16="http://schemas.microsoft.com/office/drawing/2014/main" id="{E9144A1F-3D6A-FF1A-E8CD-4C5F0A4B3D13}"/>
              </a:ext>
            </a:extLst>
          </p:cNvPr>
          <p:cNvSpPr txBox="1"/>
          <p:nvPr/>
        </p:nvSpPr>
        <p:spPr>
          <a:xfrm>
            <a:off x="1753016" y="2419577"/>
            <a:ext cx="6478761" cy="276999"/>
          </a:xfrm>
          <a:prstGeom prst="rect">
            <a:avLst/>
          </a:prstGeom>
          <a:noFill/>
        </p:spPr>
        <p:txBody>
          <a:bodyPr wrap="none" rtlCol="0">
            <a:spAutoFit/>
          </a:bodyPr>
          <a:lstStyle/>
          <a:p>
            <a:r>
              <a:rPr lang="en-US" sz="1200" dirty="0">
                <a:solidFill>
                  <a:schemeClr val="accent5">
                    <a:lumMod val="60000"/>
                    <a:lumOff val="40000"/>
                  </a:schemeClr>
                </a:solidFill>
              </a:rPr>
              <a:t>As you type, you’ll see your available options. Make sure to pick one, or you’ll have to do it again.</a:t>
            </a:r>
          </a:p>
        </p:txBody>
      </p:sp>
    </p:spTree>
    <p:extLst>
      <p:ext uri="{BB962C8B-B14F-4D97-AF65-F5344CB8AC3E}">
        <p14:creationId xmlns:p14="http://schemas.microsoft.com/office/powerpoint/2010/main" val="15051375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AE04E-1072-F257-92D1-97C80572271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44AC32A-7AD2-6E61-2CA2-D81D2027240A}"/>
              </a:ext>
            </a:extLst>
          </p:cNvPr>
          <p:cNvPicPr>
            <a:picLocks noChangeAspect="1"/>
          </p:cNvPicPr>
          <p:nvPr/>
        </p:nvPicPr>
        <p:blipFill>
          <a:blip r:embed="rId2"/>
          <a:stretch>
            <a:fillRect/>
          </a:stretch>
        </p:blipFill>
        <p:spPr>
          <a:xfrm>
            <a:off x="311084" y="905060"/>
            <a:ext cx="11557262" cy="5754453"/>
          </a:xfrm>
          <a:prstGeom prst="rect">
            <a:avLst/>
          </a:prstGeom>
        </p:spPr>
      </p:pic>
      <p:sp>
        <p:nvSpPr>
          <p:cNvPr id="2" name="Title 1">
            <a:extLst>
              <a:ext uri="{FF2B5EF4-FFF2-40B4-BE49-F238E27FC236}">
                <a16:creationId xmlns:a16="http://schemas.microsoft.com/office/drawing/2014/main" id="{C8AB30C7-7E3E-794D-8BEA-79188BFCE922}"/>
              </a:ext>
            </a:extLst>
          </p:cNvPr>
          <p:cNvSpPr>
            <a:spLocks noGrp="1"/>
          </p:cNvSpPr>
          <p:nvPr>
            <p:ph type="title"/>
          </p:nvPr>
        </p:nvSpPr>
        <p:spPr/>
        <p:txBody>
          <a:bodyPr>
            <a:normAutofit fontScale="90000"/>
          </a:bodyPr>
          <a:lstStyle/>
          <a:p>
            <a:r>
              <a:rPr lang="en-US" dirty="0"/>
              <a:t>Apply column filter</a:t>
            </a:r>
          </a:p>
        </p:txBody>
      </p:sp>
      <p:sp>
        <p:nvSpPr>
          <p:cNvPr id="6" name="TextBox 5">
            <a:extLst>
              <a:ext uri="{FF2B5EF4-FFF2-40B4-BE49-F238E27FC236}">
                <a16:creationId xmlns:a16="http://schemas.microsoft.com/office/drawing/2014/main" id="{BB71D86E-F7A9-53DB-44A4-E8E00A96F3C1}"/>
              </a:ext>
            </a:extLst>
          </p:cNvPr>
          <p:cNvSpPr txBox="1"/>
          <p:nvPr/>
        </p:nvSpPr>
        <p:spPr>
          <a:xfrm>
            <a:off x="836577" y="1446464"/>
            <a:ext cx="10731207" cy="276999"/>
          </a:xfrm>
          <a:prstGeom prst="rect">
            <a:avLst/>
          </a:prstGeom>
          <a:noFill/>
        </p:spPr>
        <p:txBody>
          <a:bodyPr wrap="none" rtlCol="0">
            <a:spAutoFit/>
          </a:bodyPr>
          <a:lstStyle/>
          <a:p>
            <a:r>
              <a:rPr lang="en-US" sz="1200" dirty="0">
                <a:solidFill>
                  <a:schemeClr val="accent5">
                    <a:lumMod val="60000"/>
                    <a:lumOff val="40000"/>
                  </a:schemeClr>
                </a:solidFill>
              </a:rPr>
              <a:t>If your file has multiple variants of a base model (e.g., LH-RH, RPL-DRIVER), enter the Excel column name that marks the subtype for your selected model name.</a:t>
            </a:r>
          </a:p>
        </p:txBody>
      </p:sp>
      <p:sp>
        <p:nvSpPr>
          <p:cNvPr id="5" name="TextBox 4">
            <a:extLst>
              <a:ext uri="{FF2B5EF4-FFF2-40B4-BE49-F238E27FC236}">
                <a16:creationId xmlns:a16="http://schemas.microsoft.com/office/drawing/2014/main" id="{BAC146F5-282F-A81C-5083-6A1E78C6C260}"/>
              </a:ext>
            </a:extLst>
          </p:cNvPr>
          <p:cNvSpPr txBox="1"/>
          <p:nvPr/>
        </p:nvSpPr>
        <p:spPr>
          <a:xfrm>
            <a:off x="836577" y="2814922"/>
            <a:ext cx="4575933" cy="461665"/>
          </a:xfrm>
          <a:prstGeom prst="rect">
            <a:avLst/>
          </a:prstGeom>
          <a:noFill/>
        </p:spPr>
        <p:txBody>
          <a:bodyPr wrap="none" rtlCol="0">
            <a:spAutoFit/>
          </a:bodyPr>
          <a:lstStyle/>
          <a:p>
            <a:r>
              <a:rPr lang="en-US" sz="1200" dirty="0">
                <a:solidFill>
                  <a:schemeClr val="accent5">
                    <a:lumMod val="60000"/>
                    <a:lumOff val="40000"/>
                  </a:schemeClr>
                </a:solidFill>
              </a:rPr>
              <a:t>If you realize you picked the wrong model, hit back to model name.</a:t>
            </a:r>
          </a:p>
          <a:p>
            <a:r>
              <a:rPr lang="en-US" sz="1200" dirty="0">
                <a:solidFill>
                  <a:schemeClr val="accent5">
                    <a:lumMod val="60000"/>
                    <a:lumOff val="40000"/>
                  </a:schemeClr>
                </a:solidFill>
              </a:rPr>
              <a:t>If you don’t want a filter, hit full sheet.</a:t>
            </a:r>
          </a:p>
        </p:txBody>
      </p:sp>
      <p:pic>
        <p:nvPicPr>
          <p:cNvPr id="9" name="Picture 8">
            <a:extLst>
              <a:ext uri="{FF2B5EF4-FFF2-40B4-BE49-F238E27FC236}">
                <a16:creationId xmlns:a16="http://schemas.microsoft.com/office/drawing/2014/main" id="{592214A8-B607-2E5E-BD2B-010C45AD4767}"/>
              </a:ext>
            </a:extLst>
          </p:cNvPr>
          <p:cNvPicPr>
            <a:picLocks noChangeAspect="1"/>
          </p:cNvPicPr>
          <p:nvPr/>
        </p:nvPicPr>
        <p:blipFill>
          <a:blip r:embed="rId3"/>
          <a:srcRect l="68069" r="2739"/>
          <a:stretch>
            <a:fillRect/>
          </a:stretch>
        </p:blipFill>
        <p:spPr>
          <a:xfrm>
            <a:off x="9591869" y="2814922"/>
            <a:ext cx="2159318" cy="4082759"/>
          </a:xfrm>
          <a:prstGeom prst="rect">
            <a:avLst/>
          </a:prstGeom>
        </p:spPr>
      </p:pic>
      <p:sp>
        <p:nvSpPr>
          <p:cNvPr id="10" name="TextBox 9">
            <a:extLst>
              <a:ext uri="{FF2B5EF4-FFF2-40B4-BE49-F238E27FC236}">
                <a16:creationId xmlns:a16="http://schemas.microsoft.com/office/drawing/2014/main" id="{914E2C68-D313-0847-94D5-4AA29AFCC1D9}"/>
              </a:ext>
            </a:extLst>
          </p:cNvPr>
          <p:cNvSpPr txBox="1"/>
          <p:nvPr/>
        </p:nvSpPr>
        <p:spPr>
          <a:xfrm>
            <a:off x="5326144" y="3494825"/>
            <a:ext cx="4253146" cy="646331"/>
          </a:xfrm>
          <a:prstGeom prst="rect">
            <a:avLst/>
          </a:prstGeom>
          <a:noFill/>
        </p:spPr>
        <p:txBody>
          <a:bodyPr wrap="square" rtlCol="0">
            <a:spAutoFit/>
          </a:bodyPr>
          <a:lstStyle/>
          <a:p>
            <a:r>
              <a:rPr lang="en-US" sz="1200" dirty="0">
                <a:solidFill>
                  <a:schemeClr val="accent5">
                    <a:lumMod val="60000"/>
                    <a:lumOff val="40000"/>
                  </a:schemeClr>
                </a:solidFill>
              </a:rPr>
              <a:t>This particular model has a left-hand and right-hand subtype. In the sheet, the RH subtype is marked in Excel column BS, and the LH subtype is marked in Excel column BM</a:t>
            </a:r>
          </a:p>
        </p:txBody>
      </p:sp>
    </p:spTree>
    <p:extLst>
      <p:ext uri="{BB962C8B-B14F-4D97-AF65-F5344CB8AC3E}">
        <p14:creationId xmlns:p14="http://schemas.microsoft.com/office/powerpoint/2010/main" val="32296378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892FC-3126-D5C4-2B81-0C91188D2DCC}"/>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A303C8C0-63A4-33CE-1F3E-4BF25FA99C82}"/>
              </a:ext>
            </a:extLst>
          </p:cNvPr>
          <p:cNvPicPr>
            <a:picLocks noChangeAspect="1"/>
          </p:cNvPicPr>
          <p:nvPr/>
        </p:nvPicPr>
        <p:blipFill>
          <a:blip r:embed="rId2"/>
          <a:stretch>
            <a:fillRect/>
          </a:stretch>
        </p:blipFill>
        <p:spPr>
          <a:xfrm>
            <a:off x="263950" y="905060"/>
            <a:ext cx="11623250" cy="5796419"/>
          </a:xfrm>
          <a:prstGeom prst="rect">
            <a:avLst/>
          </a:prstGeom>
        </p:spPr>
      </p:pic>
      <p:sp>
        <p:nvSpPr>
          <p:cNvPr id="2" name="Title 1">
            <a:extLst>
              <a:ext uri="{FF2B5EF4-FFF2-40B4-BE49-F238E27FC236}">
                <a16:creationId xmlns:a16="http://schemas.microsoft.com/office/drawing/2014/main" id="{DC18589D-4205-E3C6-4744-2C4A91A71577}"/>
              </a:ext>
            </a:extLst>
          </p:cNvPr>
          <p:cNvSpPr>
            <a:spLocks noGrp="1"/>
          </p:cNvSpPr>
          <p:nvPr>
            <p:ph type="title"/>
          </p:nvPr>
        </p:nvSpPr>
        <p:spPr/>
        <p:txBody>
          <a:bodyPr>
            <a:normAutofit fontScale="90000"/>
          </a:bodyPr>
          <a:lstStyle/>
          <a:p>
            <a:r>
              <a:rPr lang="en-US" dirty="0"/>
              <a:t>Single-row duplicate</a:t>
            </a:r>
          </a:p>
        </p:txBody>
      </p:sp>
      <p:sp>
        <p:nvSpPr>
          <p:cNvPr id="6" name="TextBox 5">
            <a:extLst>
              <a:ext uri="{FF2B5EF4-FFF2-40B4-BE49-F238E27FC236}">
                <a16:creationId xmlns:a16="http://schemas.microsoft.com/office/drawing/2014/main" id="{2C2758F5-A853-4B7B-AB79-72B70F257948}"/>
              </a:ext>
            </a:extLst>
          </p:cNvPr>
          <p:cNvSpPr txBox="1"/>
          <p:nvPr/>
        </p:nvSpPr>
        <p:spPr>
          <a:xfrm>
            <a:off x="836577" y="1446464"/>
            <a:ext cx="8090485" cy="276999"/>
          </a:xfrm>
          <a:prstGeom prst="rect">
            <a:avLst/>
          </a:prstGeom>
          <a:noFill/>
        </p:spPr>
        <p:txBody>
          <a:bodyPr wrap="none" rtlCol="0">
            <a:spAutoFit/>
          </a:bodyPr>
          <a:lstStyle/>
          <a:p>
            <a:r>
              <a:rPr lang="en-US" sz="1200" dirty="0">
                <a:solidFill>
                  <a:schemeClr val="accent5">
                    <a:lumMod val="60000"/>
                    <a:lumOff val="40000"/>
                  </a:schemeClr>
                </a:solidFill>
              </a:rPr>
              <a:t>For this subtype, one of the rows was already in the table, so the system informs you that row was skipped in this upload.</a:t>
            </a:r>
          </a:p>
        </p:txBody>
      </p:sp>
      <p:sp>
        <p:nvSpPr>
          <p:cNvPr id="11" name="TextBox 10">
            <a:extLst>
              <a:ext uri="{FF2B5EF4-FFF2-40B4-BE49-F238E27FC236}">
                <a16:creationId xmlns:a16="http://schemas.microsoft.com/office/drawing/2014/main" id="{E9D837E8-69C5-6078-C0D8-A3C861E9E3B1}"/>
              </a:ext>
            </a:extLst>
          </p:cNvPr>
          <p:cNvSpPr txBox="1"/>
          <p:nvPr/>
        </p:nvSpPr>
        <p:spPr>
          <a:xfrm>
            <a:off x="680366" y="3502969"/>
            <a:ext cx="4730620" cy="646331"/>
          </a:xfrm>
          <a:prstGeom prst="rect">
            <a:avLst/>
          </a:prstGeom>
          <a:noFill/>
        </p:spPr>
        <p:txBody>
          <a:bodyPr wrap="square" rtlCol="0">
            <a:spAutoFit/>
          </a:bodyPr>
          <a:lstStyle/>
          <a:p>
            <a:r>
              <a:rPr lang="en-US" sz="1200" dirty="0">
                <a:solidFill>
                  <a:schemeClr val="accent5">
                    <a:lumMod val="60000"/>
                    <a:lumOff val="40000"/>
                  </a:schemeClr>
                </a:solidFill>
              </a:rPr>
              <a:t>If you apply a column filter, you’ll be asked if you want to do another.</a:t>
            </a:r>
          </a:p>
          <a:p>
            <a:r>
              <a:rPr lang="en-US" sz="1200" dirty="0">
                <a:solidFill>
                  <a:schemeClr val="accent5">
                    <a:lumMod val="60000"/>
                    <a:lumOff val="40000"/>
                  </a:schemeClr>
                </a:solidFill>
              </a:rPr>
              <a:t>Hit repeat file to pick another model and column,</a:t>
            </a:r>
          </a:p>
          <a:p>
            <a:r>
              <a:rPr lang="en-US" sz="1200" dirty="0">
                <a:solidFill>
                  <a:schemeClr val="accent5">
                    <a:lumMod val="60000"/>
                    <a:lumOff val="40000"/>
                  </a:schemeClr>
                </a:solidFill>
              </a:rPr>
              <a:t>or continue to next to finish this file</a:t>
            </a:r>
          </a:p>
        </p:txBody>
      </p:sp>
      <p:sp>
        <p:nvSpPr>
          <p:cNvPr id="12" name="TextBox 11">
            <a:extLst>
              <a:ext uri="{FF2B5EF4-FFF2-40B4-BE49-F238E27FC236}">
                <a16:creationId xmlns:a16="http://schemas.microsoft.com/office/drawing/2014/main" id="{959A0BF0-528A-68D6-27E7-B8E6A623F965}"/>
              </a:ext>
            </a:extLst>
          </p:cNvPr>
          <p:cNvSpPr txBox="1"/>
          <p:nvPr/>
        </p:nvSpPr>
        <p:spPr>
          <a:xfrm>
            <a:off x="3045676" y="4598371"/>
            <a:ext cx="5523289" cy="461665"/>
          </a:xfrm>
          <a:prstGeom prst="rect">
            <a:avLst/>
          </a:prstGeom>
          <a:noFill/>
        </p:spPr>
        <p:txBody>
          <a:bodyPr wrap="square" rtlCol="0">
            <a:spAutoFit/>
          </a:bodyPr>
          <a:lstStyle/>
          <a:p>
            <a:r>
              <a:rPr lang="en-US" sz="1200" dirty="0">
                <a:solidFill>
                  <a:schemeClr val="accent5">
                    <a:lumMod val="60000"/>
                    <a:lumOff val="40000"/>
                  </a:schemeClr>
                </a:solidFill>
              </a:rPr>
              <a:t>After each subtype, you’ll see a review table of what was just uploaded. Note how the entry that it claims was skipped above (dummy sample 101) is absent.</a:t>
            </a:r>
          </a:p>
        </p:txBody>
      </p:sp>
      <p:sp>
        <p:nvSpPr>
          <p:cNvPr id="13" name="TextBox 12">
            <a:extLst>
              <a:ext uri="{FF2B5EF4-FFF2-40B4-BE49-F238E27FC236}">
                <a16:creationId xmlns:a16="http://schemas.microsoft.com/office/drawing/2014/main" id="{6E99F13A-11E9-9DDB-F067-E5C0695A1886}"/>
              </a:ext>
            </a:extLst>
          </p:cNvPr>
          <p:cNvSpPr txBox="1"/>
          <p:nvPr/>
        </p:nvSpPr>
        <p:spPr>
          <a:xfrm>
            <a:off x="4415706" y="3053898"/>
            <a:ext cx="4730620" cy="276999"/>
          </a:xfrm>
          <a:prstGeom prst="rect">
            <a:avLst/>
          </a:prstGeom>
          <a:noFill/>
        </p:spPr>
        <p:txBody>
          <a:bodyPr wrap="square" rtlCol="0">
            <a:spAutoFit/>
          </a:bodyPr>
          <a:lstStyle/>
          <a:p>
            <a:r>
              <a:rPr lang="en-US" sz="1200" dirty="0">
                <a:solidFill>
                  <a:schemeClr val="accent5">
                    <a:lumMod val="60000"/>
                    <a:lumOff val="40000"/>
                  </a:schemeClr>
                </a:solidFill>
              </a:rPr>
              <a:t>Since there’s another subtype in this file, we’ll select Repeat File.</a:t>
            </a:r>
          </a:p>
        </p:txBody>
      </p:sp>
    </p:spTree>
    <p:extLst>
      <p:ext uri="{BB962C8B-B14F-4D97-AF65-F5344CB8AC3E}">
        <p14:creationId xmlns:p14="http://schemas.microsoft.com/office/powerpoint/2010/main" val="26467051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27359-A15B-F2C3-2BA4-1AD77BEB4B9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B654AC-1934-7B7F-4EC4-82297EDB64D8}"/>
              </a:ext>
            </a:extLst>
          </p:cNvPr>
          <p:cNvPicPr>
            <a:picLocks noChangeAspect="1"/>
          </p:cNvPicPr>
          <p:nvPr/>
        </p:nvPicPr>
        <p:blipFill>
          <a:blip r:embed="rId2"/>
          <a:stretch>
            <a:fillRect/>
          </a:stretch>
        </p:blipFill>
        <p:spPr>
          <a:xfrm>
            <a:off x="285750" y="905061"/>
            <a:ext cx="11592023" cy="5768744"/>
          </a:xfrm>
          <a:prstGeom prst="rect">
            <a:avLst/>
          </a:prstGeom>
        </p:spPr>
      </p:pic>
      <p:sp>
        <p:nvSpPr>
          <p:cNvPr id="2" name="Title 1">
            <a:extLst>
              <a:ext uri="{FF2B5EF4-FFF2-40B4-BE49-F238E27FC236}">
                <a16:creationId xmlns:a16="http://schemas.microsoft.com/office/drawing/2014/main" id="{7231AA2E-09F5-1752-2AAA-97DAF3592A94}"/>
              </a:ext>
            </a:extLst>
          </p:cNvPr>
          <p:cNvSpPr>
            <a:spLocks noGrp="1"/>
          </p:cNvSpPr>
          <p:nvPr>
            <p:ph type="title"/>
          </p:nvPr>
        </p:nvSpPr>
        <p:spPr>
          <a:xfrm>
            <a:off x="2024438" y="225157"/>
            <a:ext cx="8143123" cy="679904"/>
          </a:xfrm>
        </p:spPr>
        <p:txBody>
          <a:bodyPr>
            <a:normAutofit fontScale="90000"/>
          </a:bodyPr>
          <a:lstStyle/>
          <a:p>
            <a:r>
              <a:rPr lang="en-US" dirty="0"/>
              <a:t>Repeating for a different subtype</a:t>
            </a:r>
          </a:p>
        </p:txBody>
      </p:sp>
      <p:sp>
        <p:nvSpPr>
          <p:cNvPr id="6" name="TextBox 5">
            <a:extLst>
              <a:ext uri="{FF2B5EF4-FFF2-40B4-BE49-F238E27FC236}">
                <a16:creationId xmlns:a16="http://schemas.microsoft.com/office/drawing/2014/main" id="{2D014C3C-CAAB-7905-825E-51A0A3932AD9}"/>
              </a:ext>
            </a:extLst>
          </p:cNvPr>
          <p:cNvSpPr txBox="1"/>
          <p:nvPr/>
        </p:nvSpPr>
        <p:spPr>
          <a:xfrm>
            <a:off x="3475914" y="3532942"/>
            <a:ext cx="6452472" cy="276999"/>
          </a:xfrm>
          <a:prstGeom prst="rect">
            <a:avLst/>
          </a:prstGeom>
          <a:noFill/>
        </p:spPr>
        <p:txBody>
          <a:bodyPr wrap="none" rtlCol="0">
            <a:spAutoFit/>
          </a:bodyPr>
          <a:lstStyle/>
          <a:p>
            <a:r>
              <a:rPr lang="en-US" sz="1200" dirty="0">
                <a:solidFill>
                  <a:schemeClr val="accent5">
                    <a:lumMod val="60000"/>
                    <a:lumOff val="40000"/>
                  </a:schemeClr>
                </a:solidFill>
              </a:rPr>
              <a:t>When you repeat a file for a different subtype, you’ll see the ‘pass number’ next to the file name.</a:t>
            </a:r>
          </a:p>
        </p:txBody>
      </p:sp>
    </p:spTree>
    <p:extLst>
      <p:ext uri="{BB962C8B-B14F-4D97-AF65-F5344CB8AC3E}">
        <p14:creationId xmlns:p14="http://schemas.microsoft.com/office/powerpoint/2010/main" val="8592358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E5796-E839-6602-6588-A5248400D0FF}"/>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7CD34FC1-F2C7-3C56-91F3-5466A594265D}"/>
              </a:ext>
            </a:extLst>
          </p:cNvPr>
          <p:cNvSpPr txBox="1">
            <a:spLocks/>
          </p:cNvSpPr>
          <p:nvPr/>
        </p:nvSpPr>
        <p:spPr>
          <a:xfrm>
            <a:off x="2024438" y="212586"/>
            <a:ext cx="9363141" cy="679904"/>
          </a:xfrm>
          <a:prstGeom prst="rect">
            <a:avLst/>
          </a:prstGeom>
        </p:spPr>
        <p:txBody>
          <a:bodyPr vert="horz" lIns="91440" tIns="45720" rIns="91440" bIns="45720" rtlCol="0" anchor="t">
            <a:normAutofit fontScale="97500"/>
          </a:bodyPr>
          <a:lstStyle>
            <a:lvl1pPr algn="ctr" defTabSz="914400" rtl="0" eaLnBrk="1" latinLnBrk="0" hangingPunct="1">
              <a:lnSpc>
                <a:spcPct val="90000"/>
              </a:lnSpc>
              <a:spcBef>
                <a:spcPct val="0"/>
              </a:spcBef>
              <a:buNone/>
              <a:defRPr sz="4400" b="1" kern="1200">
                <a:solidFill>
                  <a:schemeClr val="accent2"/>
                </a:solidFill>
                <a:latin typeface="Calibri" panose="020F0502020204030204" pitchFamily="34" charset="0"/>
                <a:ea typeface="+mj-ea"/>
                <a:cs typeface="Calibri" panose="020F0502020204030204" pitchFamily="34" charset="0"/>
              </a:defRPr>
            </a:lvl1pPr>
          </a:lstStyle>
          <a:p>
            <a:r>
              <a:rPr lang="en-US" sz="4000" dirty="0"/>
              <a:t>Repeating for a different subtype (cont.)</a:t>
            </a:r>
          </a:p>
        </p:txBody>
      </p:sp>
      <p:pic>
        <p:nvPicPr>
          <p:cNvPr id="4" name="Picture 3">
            <a:extLst>
              <a:ext uri="{FF2B5EF4-FFF2-40B4-BE49-F238E27FC236}">
                <a16:creationId xmlns:a16="http://schemas.microsoft.com/office/drawing/2014/main" id="{C3C01787-0C29-04B0-3981-3C87D5B3CC00}"/>
              </a:ext>
            </a:extLst>
          </p:cNvPr>
          <p:cNvPicPr>
            <a:picLocks noChangeAspect="1"/>
          </p:cNvPicPr>
          <p:nvPr/>
        </p:nvPicPr>
        <p:blipFill>
          <a:blip r:embed="rId2"/>
          <a:stretch>
            <a:fillRect/>
          </a:stretch>
        </p:blipFill>
        <p:spPr>
          <a:xfrm>
            <a:off x="296192" y="905060"/>
            <a:ext cx="11609863" cy="5795828"/>
          </a:xfrm>
          <a:prstGeom prst="rect">
            <a:avLst/>
          </a:prstGeom>
        </p:spPr>
      </p:pic>
      <p:pic>
        <p:nvPicPr>
          <p:cNvPr id="7" name="Picture 6">
            <a:extLst>
              <a:ext uri="{FF2B5EF4-FFF2-40B4-BE49-F238E27FC236}">
                <a16:creationId xmlns:a16="http://schemas.microsoft.com/office/drawing/2014/main" id="{562914A9-33E4-6AC8-7582-EC369B8241E4}"/>
              </a:ext>
            </a:extLst>
          </p:cNvPr>
          <p:cNvPicPr>
            <a:picLocks noChangeAspect="1"/>
          </p:cNvPicPr>
          <p:nvPr/>
        </p:nvPicPr>
        <p:blipFill>
          <a:blip r:embed="rId3"/>
          <a:srcRect l="68069" r="2739"/>
          <a:stretch>
            <a:fillRect/>
          </a:stretch>
        </p:blipFill>
        <p:spPr>
          <a:xfrm>
            <a:off x="9736490" y="2775241"/>
            <a:ext cx="2159318" cy="4082759"/>
          </a:xfrm>
          <a:prstGeom prst="rect">
            <a:avLst/>
          </a:prstGeom>
        </p:spPr>
      </p:pic>
      <p:sp>
        <p:nvSpPr>
          <p:cNvPr id="8" name="TextBox 7">
            <a:extLst>
              <a:ext uri="{FF2B5EF4-FFF2-40B4-BE49-F238E27FC236}">
                <a16:creationId xmlns:a16="http://schemas.microsoft.com/office/drawing/2014/main" id="{358D8F47-7349-20AE-C9CE-8357F1DFBCC9}"/>
              </a:ext>
            </a:extLst>
          </p:cNvPr>
          <p:cNvSpPr txBox="1"/>
          <p:nvPr/>
        </p:nvSpPr>
        <p:spPr>
          <a:xfrm>
            <a:off x="7739754" y="4166997"/>
            <a:ext cx="2299793" cy="461665"/>
          </a:xfrm>
          <a:prstGeom prst="rect">
            <a:avLst/>
          </a:prstGeom>
          <a:noFill/>
        </p:spPr>
        <p:txBody>
          <a:bodyPr wrap="square" rtlCol="0">
            <a:spAutoFit/>
          </a:bodyPr>
          <a:lstStyle/>
          <a:p>
            <a:r>
              <a:rPr lang="en-US" sz="1200" dirty="0">
                <a:solidFill>
                  <a:schemeClr val="accent5">
                    <a:lumMod val="60000"/>
                    <a:lumOff val="40000"/>
                  </a:schemeClr>
                </a:solidFill>
              </a:rPr>
              <a:t>Recall that the LH subtype is marked in Excel column BM</a:t>
            </a:r>
          </a:p>
        </p:txBody>
      </p:sp>
    </p:spTree>
    <p:extLst>
      <p:ext uri="{BB962C8B-B14F-4D97-AF65-F5344CB8AC3E}">
        <p14:creationId xmlns:p14="http://schemas.microsoft.com/office/powerpoint/2010/main" val="2875465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51E49-BFBF-CC25-83F2-51E6397394B4}"/>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D1D87700-4880-EC4E-0F9D-20BAA85BE1A7}"/>
              </a:ext>
            </a:extLst>
          </p:cNvPr>
          <p:cNvPicPr>
            <a:picLocks noChangeAspect="1"/>
          </p:cNvPicPr>
          <p:nvPr/>
        </p:nvPicPr>
        <p:blipFill>
          <a:blip r:embed="rId2"/>
          <a:stretch>
            <a:fillRect/>
          </a:stretch>
        </p:blipFill>
        <p:spPr>
          <a:xfrm>
            <a:off x="292230" y="905061"/>
            <a:ext cx="11594970" cy="5779274"/>
          </a:xfrm>
          <a:prstGeom prst="rect">
            <a:avLst/>
          </a:prstGeom>
        </p:spPr>
      </p:pic>
      <p:sp>
        <p:nvSpPr>
          <p:cNvPr id="2" name="Title 1">
            <a:extLst>
              <a:ext uri="{FF2B5EF4-FFF2-40B4-BE49-F238E27FC236}">
                <a16:creationId xmlns:a16="http://schemas.microsoft.com/office/drawing/2014/main" id="{80ED452D-2330-B6E2-ED8E-DD41BCDF834D}"/>
              </a:ext>
            </a:extLst>
          </p:cNvPr>
          <p:cNvSpPr>
            <a:spLocks noGrp="1"/>
          </p:cNvSpPr>
          <p:nvPr>
            <p:ph type="title"/>
          </p:nvPr>
        </p:nvSpPr>
        <p:spPr/>
        <p:txBody>
          <a:bodyPr>
            <a:normAutofit fontScale="90000"/>
          </a:bodyPr>
          <a:lstStyle/>
          <a:p>
            <a:r>
              <a:rPr lang="en-US" dirty="0"/>
              <a:t>Full-subtype/file duplicate</a:t>
            </a:r>
          </a:p>
        </p:txBody>
      </p:sp>
      <p:sp>
        <p:nvSpPr>
          <p:cNvPr id="8" name="TextBox 7">
            <a:extLst>
              <a:ext uri="{FF2B5EF4-FFF2-40B4-BE49-F238E27FC236}">
                <a16:creationId xmlns:a16="http://schemas.microsoft.com/office/drawing/2014/main" id="{66F8EB64-9640-317D-8DC4-551020478B7A}"/>
              </a:ext>
            </a:extLst>
          </p:cNvPr>
          <p:cNvSpPr txBox="1"/>
          <p:nvPr/>
        </p:nvSpPr>
        <p:spPr>
          <a:xfrm>
            <a:off x="7318862" y="2297836"/>
            <a:ext cx="4232115" cy="646331"/>
          </a:xfrm>
          <a:prstGeom prst="rect">
            <a:avLst/>
          </a:prstGeom>
          <a:noFill/>
        </p:spPr>
        <p:txBody>
          <a:bodyPr wrap="square" rtlCol="0">
            <a:spAutoFit/>
          </a:bodyPr>
          <a:lstStyle/>
          <a:p>
            <a:r>
              <a:rPr lang="en-US" sz="1200" dirty="0">
                <a:solidFill>
                  <a:schemeClr val="accent5">
                    <a:lumMod val="60000"/>
                    <a:lumOff val="40000"/>
                  </a:schemeClr>
                </a:solidFill>
              </a:rPr>
              <a:t>Based on this output, we can understand that the uploader tried to add the rows marked in BM, but every row had already been uploaded (so adding it again would be duplicate).</a:t>
            </a:r>
          </a:p>
        </p:txBody>
      </p:sp>
      <p:sp>
        <p:nvSpPr>
          <p:cNvPr id="6" name="TextBox 5">
            <a:extLst>
              <a:ext uri="{FF2B5EF4-FFF2-40B4-BE49-F238E27FC236}">
                <a16:creationId xmlns:a16="http://schemas.microsoft.com/office/drawing/2014/main" id="{A3F87842-BF14-64F9-8C04-E61151BADB00}"/>
              </a:ext>
            </a:extLst>
          </p:cNvPr>
          <p:cNvSpPr txBox="1"/>
          <p:nvPr/>
        </p:nvSpPr>
        <p:spPr>
          <a:xfrm>
            <a:off x="8315135" y="4738177"/>
            <a:ext cx="4684775" cy="276999"/>
          </a:xfrm>
          <a:prstGeom prst="rect">
            <a:avLst/>
          </a:prstGeom>
          <a:noFill/>
        </p:spPr>
        <p:txBody>
          <a:bodyPr wrap="square" rtlCol="0">
            <a:spAutoFit/>
          </a:bodyPr>
          <a:lstStyle/>
          <a:p>
            <a:r>
              <a:rPr lang="en-US" sz="1200" dirty="0">
                <a:solidFill>
                  <a:schemeClr val="accent5">
                    <a:lumMod val="60000"/>
                    <a:lumOff val="40000"/>
                  </a:schemeClr>
                </a:solidFill>
              </a:rPr>
              <a:t>The empty review table reinforces this conclusion</a:t>
            </a:r>
          </a:p>
        </p:txBody>
      </p:sp>
      <p:sp>
        <p:nvSpPr>
          <p:cNvPr id="9" name="TextBox 8">
            <a:extLst>
              <a:ext uri="{FF2B5EF4-FFF2-40B4-BE49-F238E27FC236}">
                <a16:creationId xmlns:a16="http://schemas.microsoft.com/office/drawing/2014/main" id="{947A7177-C622-4919-581B-AB6B99966354}"/>
              </a:ext>
            </a:extLst>
          </p:cNvPr>
          <p:cNvSpPr txBox="1"/>
          <p:nvPr/>
        </p:nvSpPr>
        <p:spPr>
          <a:xfrm>
            <a:off x="935519" y="3910189"/>
            <a:ext cx="4899673" cy="276999"/>
          </a:xfrm>
          <a:prstGeom prst="rect">
            <a:avLst/>
          </a:prstGeom>
          <a:noFill/>
        </p:spPr>
        <p:txBody>
          <a:bodyPr wrap="square" rtlCol="0">
            <a:spAutoFit/>
          </a:bodyPr>
          <a:lstStyle/>
          <a:p>
            <a:r>
              <a:rPr lang="en-US" sz="1200" dirty="0">
                <a:solidFill>
                  <a:schemeClr val="accent5">
                    <a:lumMod val="60000"/>
                    <a:lumOff val="40000"/>
                  </a:schemeClr>
                </a:solidFill>
              </a:rPr>
              <a:t>We’ve handled all subtypes in this file, so we’ll select Continue to Next</a:t>
            </a:r>
          </a:p>
        </p:txBody>
      </p:sp>
    </p:spTree>
    <p:extLst>
      <p:ext uri="{BB962C8B-B14F-4D97-AF65-F5344CB8AC3E}">
        <p14:creationId xmlns:p14="http://schemas.microsoft.com/office/powerpoint/2010/main" val="30518883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CFC6B-CD79-3242-E800-454B42DF8DD5}"/>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8955C70A-1437-4BFC-A659-D16ED897E8BB}"/>
              </a:ext>
            </a:extLst>
          </p:cNvPr>
          <p:cNvPicPr>
            <a:picLocks noChangeAspect="1"/>
          </p:cNvPicPr>
          <p:nvPr/>
        </p:nvPicPr>
        <p:blipFill>
          <a:blip r:embed="rId2"/>
          <a:stretch>
            <a:fillRect/>
          </a:stretch>
        </p:blipFill>
        <p:spPr>
          <a:xfrm>
            <a:off x="329938" y="905060"/>
            <a:ext cx="11594969" cy="5794447"/>
          </a:xfrm>
          <a:prstGeom prst="rect">
            <a:avLst/>
          </a:prstGeom>
        </p:spPr>
      </p:pic>
      <p:sp>
        <p:nvSpPr>
          <p:cNvPr id="2" name="Title 1">
            <a:extLst>
              <a:ext uri="{FF2B5EF4-FFF2-40B4-BE49-F238E27FC236}">
                <a16:creationId xmlns:a16="http://schemas.microsoft.com/office/drawing/2014/main" id="{326FBE7E-129D-1391-A709-42C89063B25E}"/>
              </a:ext>
            </a:extLst>
          </p:cNvPr>
          <p:cNvSpPr>
            <a:spLocks noGrp="1"/>
          </p:cNvSpPr>
          <p:nvPr>
            <p:ph type="title"/>
          </p:nvPr>
        </p:nvSpPr>
        <p:spPr/>
        <p:txBody>
          <a:bodyPr>
            <a:normAutofit fontScale="90000"/>
          </a:bodyPr>
          <a:lstStyle/>
          <a:p>
            <a:r>
              <a:rPr lang="en-US" dirty="0"/>
              <a:t>More files</a:t>
            </a:r>
          </a:p>
        </p:txBody>
      </p:sp>
      <p:sp>
        <p:nvSpPr>
          <p:cNvPr id="9" name="TextBox 8">
            <a:extLst>
              <a:ext uri="{FF2B5EF4-FFF2-40B4-BE49-F238E27FC236}">
                <a16:creationId xmlns:a16="http://schemas.microsoft.com/office/drawing/2014/main" id="{B9B2396A-6976-8716-FAD6-CADBABAFA79D}"/>
              </a:ext>
            </a:extLst>
          </p:cNvPr>
          <p:cNvSpPr txBox="1"/>
          <p:nvPr/>
        </p:nvSpPr>
        <p:spPr>
          <a:xfrm>
            <a:off x="3646163" y="3702799"/>
            <a:ext cx="4899673" cy="276999"/>
          </a:xfrm>
          <a:prstGeom prst="rect">
            <a:avLst/>
          </a:prstGeom>
          <a:noFill/>
        </p:spPr>
        <p:txBody>
          <a:bodyPr wrap="square" rtlCol="0">
            <a:spAutoFit/>
          </a:bodyPr>
          <a:lstStyle/>
          <a:p>
            <a:r>
              <a:rPr lang="en-US" sz="1200" dirty="0">
                <a:solidFill>
                  <a:schemeClr val="accent5">
                    <a:lumMod val="60000"/>
                    <a:lumOff val="40000"/>
                  </a:schemeClr>
                </a:solidFill>
              </a:rPr>
              <a:t>Now we’ve started the next file, the progress bar updates</a:t>
            </a:r>
          </a:p>
        </p:txBody>
      </p:sp>
      <p:sp>
        <p:nvSpPr>
          <p:cNvPr id="11" name="TextBox 10">
            <a:extLst>
              <a:ext uri="{FF2B5EF4-FFF2-40B4-BE49-F238E27FC236}">
                <a16:creationId xmlns:a16="http://schemas.microsoft.com/office/drawing/2014/main" id="{40DE0B31-1ECB-D427-FDEA-E2DE6CA44CC7}"/>
              </a:ext>
            </a:extLst>
          </p:cNvPr>
          <p:cNvSpPr txBox="1"/>
          <p:nvPr/>
        </p:nvSpPr>
        <p:spPr>
          <a:xfrm>
            <a:off x="1743519" y="3224348"/>
            <a:ext cx="7296786" cy="461665"/>
          </a:xfrm>
          <a:prstGeom prst="rect">
            <a:avLst/>
          </a:prstGeom>
          <a:noFill/>
        </p:spPr>
        <p:txBody>
          <a:bodyPr wrap="square" rtlCol="0">
            <a:spAutoFit/>
          </a:bodyPr>
          <a:lstStyle/>
          <a:p>
            <a:r>
              <a:rPr lang="en-US" sz="1200" dirty="0">
                <a:solidFill>
                  <a:schemeClr val="accent5">
                    <a:lumMod val="60000"/>
                    <a:lumOff val="40000"/>
                  </a:schemeClr>
                </a:solidFill>
              </a:rPr>
              <a:t>This is what it looks like when the system gets a model name that it can’t find in the model-to-line database. If it should exist, use the model mapping uploader for a new C. Core import.</a:t>
            </a:r>
          </a:p>
        </p:txBody>
      </p:sp>
    </p:spTree>
    <p:extLst>
      <p:ext uri="{BB962C8B-B14F-4D97-AF65-F5344CB8AC3E}">
        <p14:creationId xmlns:p14="http://schemas.microsoft.com/office/powerpoint/2010/main" val="23601684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49185-3FCD-31CF-652F-4F2C9E73D2C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E487EA1-3571-122D-F00C-0A2EFD50E43B}"/>
              </a:ext>
            </a:extLst>
          </p:cNvPr>
          <p:cNvPicPr>
            <a:picLocks noChangeAspect="1"/>
          </p:cNvPicPr>
          <p:nvPr/>
        </p:nvPicPr>
        <p:blipFill>
          <a:blip r:embed="rId2"/>
          <a:stretch>
            <a:fillRect/>
          </a:stretch>
        </p:blipFill>
        <p:spPr>
          <a:xfrm>
            <a:off x="329938" y="905060"/>
            <a:ext cx="11585542" cy="5768558"/>
          </a:xfrm>
          <a:prstGeom prst="rect">
            <a:avLst/>
          </a:prstGeom>
        </p:spPr>
      </p:pic>
      <p:sp>
        <p:nvSpPr>
          <p:cNvPr id="2" name="Title 1">
            <a:extLst>
              <a:ext uri="{FF2B5EF4-FFF2-40B4-BE49-F238E27FC236}">
                <a16:creationId xmlns:a16="http://schemas.microsoft.com/office/drawing/2014/main" id="{7346A616-776E-25A0-FC4B-0A54D2B58E16}"/>
              </a:ext>
            </a:extLst>
          </p:cNvPr>
          <p:cNvSpPr>
            <a:spLocks noGrp="1"/>
          </p:cNvSpPr>
          <p:nvPr>
            <p:ph type="title"/>
          </p:nvPr>
        </p:nvSpPr>
        <p:spPr/>
        <p:txBody>
          <a:bodyPr>
            <a:normAutofit fontScale="90000"/>
          </a:bodyPr>
          <a:lstStyle/>
          <a:p>
            <a:r>
              <a:rPr lang="en-US" dirty="0"/>
              <a:t>More files (cont.)</a:t>
            </a:r>
          </a:p>
        </p:txBody>
      </p:sp>
      <p:sp>
        <p:nvSpPr>
          <p:cNvPr id="9" name="TextBox 8">
            <a:extLst>
              <a:ext uri="{FF2B5EF4-FFF2-40B4-BE49-F238E27FC236}">
                <a16:creationId xmlns:a16="http://schemas.microsoft.com/office/drawing/2014/main" id="{7B577018-8767-2BDE-67AA-2399624B7B05}"/>
              </a:ext>
            </a:extLst>
          </p:cNvPr>
          <p:cNvSpPr txBox="1"/>
          <p:nvPr/>
        </p:nvSpPr>
        <p:spPr>
          <a:xfrm>
            <a:off x="841250" y="3665092"/>
            <a:ext cx="4899673" cy="461665"/>
          </a:xfrm>
          <a:prstGeom prst="rect">
            <a:avLst/>
          </a:prstGeom>
          <a:noFill/>
        </p:spPr>
        <p:txBody>
          <a:bodyPr wrap="square" rtlCol="0">
            <a:spAutoFit/>
          </a:bodyPr>
          <a:lstStyle/>
          <a:p>
            <a:r>
              <a:rPr lang="en-US" sz="1200" dirty="0">
                <a:solidFill>
                  <a:schemeClr val="accent5">
                    <a:lumMod val="60000"/>
                    <a:lumOff val="40000"/>
                  </a:schemeClr>
                </a:solidFill>
              </a:rPr>
              <a:t>We’ll select full sheet because this data sheet does not have subtypes. This also skips the ‘Repeat file?’ prompt</a:t>
            </a:r>
          </a:p>
        </p:txBody>
      </p:sp>
      <p:sp>
        <p:nvSpPr>
          <p:cNvPr id="8" name="TextBox 7">
            <a:extLst>
              <a:ext uri="{FF2B5EF4-FFF2-40B4-BE49-F238E27FC236}">
                <a16:creationId xmlns:a16="http://schemas.microsoft.com/office/drawing/2014/main" id="{61C134A5-7F1E-C5E1-A5BE-899735177C43}"/>
              </a:ext>
            </a:extLst>
          </p:cNvPr>
          <p:cNvSpPr txBox="1"/>
          <p:nvPr/>
        </p:nvSpPr>
        <p:spPr>
          <a:xfrm>
            <a:off x="2841305" y="3096841"/>
            <a:ext cx="7848691" cy="276999"/>
          </a:xfrm>
          <a:prstGeom prst="rect">
            <a:avLst/>
          </a:prstGeom>
          <a:noFill/>
        </p:spPr>
        <p:txBody>
          <a:bodyPr wrap="square" rtlCol="0">
            <a:spAutoFit/>
          </a:bodyPr>
          <a:lstStyle/>
          <a:p>
            <a:r>
              <a:rPr lang="en-US" sz="1200" dirty="0">
                <a:solidFill>
                  <a:schemeClr val="accent5">
                    <a:lumMod val="60000"/>
                    <a:lumOff val="40000"/>
                  </a:schemeClr>
                </a:solidFill>
              </a:rPr>
              <a:t>This is what it looks like when the system gets a column filter outside of the range that is marked for subtypes </a:t>
            </a:r>
          </a:p>
        </p:txBody>
      </p:sp>
    </p:spTree>
    <p:extLst>
      <p:ext uri="{BB962C8B-B14F-4D97-AF65-F5344CB8AC3E}">
        <p14:creationId xmlns:p14="http://schemas.microsoft.com/office/powerpoint/2010/main" val="26313391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94A32-C620-96E4-0F35-ED8D7022AB1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48A6053-81FB-211E-8986-6FBA44ADC581}"/>
              </a:ext>
            </a:extLst>
          </p:cNvPr>
          <p:cNvPicPr>
            <a:picLocks noChangeAspect="1"/>
          </p:cNvPicPr>
          <p:nvPr/>
        </p:nvPicPr>
        <p:blipFill>
          <a:blip r:embed="rId2"/>
          <a:stretch>
            <a:fillRect/>
          </a:stretch>
        </p:blipFill>
        <p:spPr>
          <a:xfrm>
            <a:off x="292231" y="913201"/>
            <a:ext cx="11604396" cy="5765820"/>
          </a:xfrm>
          <a:prstGeom prst="rect">
            <a:avLst/>
          </a:prstGeom>
        </p:spPr>
      </p:pic>
      <p:sp>
        <p:nvSpPr>
          <p:cNvPr id="2" name="Title 1">
            <a:extLst>
              <a:ext uri="{FF2B5EF4-FFF2-40B4-BE49-F238E27FC236}">
                <a16:creationId xmlns:a16="http://schemas.microsoft.com/office/drawing/2014/main" id="{85597D1F-DDAF-F2FA-5675-AA8E712A59F9}"/>
              </a:ext>
            </a:extLst>
          </p:cNvPr>
          <p:cNvSpPr>
            <a:spLocks noGrp="1"/>
          </p:cNvSpPr>
          <p:nvPr>
            <p:ph type="title"/>
          </p:nvPr>
        </p:nvSpPr>
        <p:spPr/>
        <p:txBody>
          <a:bodyPr>
            <a:normAutofit fontScale="90000"/>
          </a:bodyPr>
          <a:lstStyle/>
          <a:p>
            <a:r>
              <a:rPr lang="en-US" dirty="0"/>
              <a:t>FP data sheet upload summary</a:t>
            </a:r>
          </a:p>
        </p:txBody>
      </p:sp>
      <p:sp>
        <p:nvSpPr>
          <p:cNvPr id="9" name="TextBox 8">
            <a:extLst>
              <a:ext uri="{FF2B5EF4-FFF2-40B4-BE49-F238E27FC236}">
                <a16:creationId xmlns:a16="http://schemas.microsoft.com/office/drawing/2014/main" id="{AF9B6C7F-3B4B-11F4-F200-4884851FE355}"/>
              </a:ext>
            </a:extLst>
          </p:cNvPr>
          <p:cNvSpPr txBox="1"/>
          <p:nvPr/>
        </p:nvSpPr>
        <p:spPr>
          <a:xfrm>
            <a:off x="756409" y="3519112"/>
            <a:ext cx="10131550" cy="461665"/>
          </a:xfrm>
          <a:prstGeom prst="rect">
            <a:avLst/>
          </a:prstGeom>
          <a:noFill/>
        </p:spPr>
        <p:txBody>
          <a:bodyPr wrap="square" rtlCol="0">
            <a:spAutoFit/>
          </a:bodyPr>
          <a:lstStyle/>
          <a:p>
            <a:r>
              <a:rPr lang="en-US" sz="1200" dirty="0">
                <a:solidFill>
                  <a:schemeClr val="accent5">
                    <a:lumMod val="60000"/>
                    <a:lumOff val="40000"/>
                  </a:schemeClr>
                </a:solidFill>
              </a:rPr>
              <a:t>After processing all files, you’ll get a by-model upload summary. The most interesting information is the status and rows added, which will tell you how much of your batch uploaded successfully.</a:t>
            </a:r>
          </a:p>
        </p:txBody>
      </p:sp>
      <p:sp>
        <p:nvSpPr>
          <p:cNvPr id="8" name="TextBox 7">
            <a:extLst>
              <a:ext uri="{FF2B5EF4-FFF2-40B4-BE49-F238E27FC236}">
                <a16:creationId xmlns:a16="http://schemas.microsoft.com/office/drawing/2014/main" id="{1AE9EB9D-8DFE-829A-1B73-9760E944C2B8}"/>
              </a:ext>
            </a:extLst>
          </p:cNvPr>
          <p:cNvSpPr txBox="1"/>
          <p:nvPr/>
        </p:nvSpPr>
        <p:spPr>
          <a:xfrm>
            <a:off x="5907025" y="4051169"/>
            <a:ext cx="6284975" cy="276999"/>
          </a:xfrm>
          <a:prstGeom prst="rect">
            <a:avLst/>
          </a:prstGeom>
          <a:noFill/>
        </p:spPr>
        <p:txBody>
          <a:bodyPr wrap="square" rtlCol="0">
            <a:spAutoFit/>
          </a:bodyPr>
          <a:lstStyle/>
          <a:p>
            <a:r>
              <a:rPr lang="en-US" sz="1200" dirty="0">
                <a:solidFill>
                  <a:schemeClr val="accent5">
                    <a:lumMod val="60000"/>
                    <a:lumOff val="40000"/>
                  </a:schemeClr>
                </a:solidFill>
              </a:rPr>
              <a:t>Use the dismiss button to show the full FP data sheet table and clear the upload summary</a:t>
            </a:r>
          </a:p>
        </p:txBody>
      </p:sp>
    </p:spTree>
    <p:extLst>
      <p:ext uri="{BB962C8B-B14F-4D97-AF65-F5344CB8AC3E}">
        <p14:creationId xmlns:p14="http://schemas.microsoft.com/office/powerpoint/2010/main" val="25772167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1C190BE-0BD4-6F02-D96C-ED19799EAC70}"/>
              </a:ext>
            </a:extLst>
          </p:cNvPr>
          <p:cNvPicPr>
            <a:picLocks noChangeAspect="1"/>
          </p:cNvPicPr>
          <p:nvPr/>
        </p:nvPicPr>
        <p:blipFill>
          <a:blip r:embed="rId3"/>
          <a:stretch>
            <a:fillRect/>
          </a:stretch>
        </p:blipFill>
        <p:spPr>
          <a:xfrm>
            <a:off x="312738" y="917564"/>
            <a:ext cx="11555411" cy="5774685"/>
          </a:xfrm>
          <a:prstGeom prst="rect">
            <a:avLst/>
          </a:prstGeom>
        </p:spPr>
      </p:pic>
      <p:sp>
        <p:nvSpPr>
          <p:cNvPr id="2" name="Title 1">
            <a:extLst>
              <a:ext uri="{FF2B5EF4-FFF2-40B4-BE49-F238E27FC236}">
                <a16:creationId xmlns:a16="http://schemas.microsoft.com/office/drawing/2014/main" id="{2539BB20-DEF8-1F66-7EA7-0F3F67627279}"/>
              </a:ext>
            </a:extLst>
          </p:cNvPr>
          <p:cNvSpPr>
            <a:spLocks noGrp="1"/>
          </p:cNvSpPr>
          <p:nvPr>
            <p:ph type="title"/>
          </p:nvPr>
        </p:nvSpPr>
        <p:spPr/>
        <p:txBody>
          <a:bodyPr>
            <a:normAutofit fontScale="90000"/>
          </a:bodyPr>
          <a:lstStyle/>
          <a:p>
            <a:r>
              <a:rPr lang="en-US" dirty="0"/>
              <a:t>Approve samples</a:t>
            </a:r>
          </a:p>
        </p:txBody>
      </p:sp>
      <p:sp>
        <p:nvSpPr>
          <p:cNvPr id="6" name="TextBox 5">
            <a:extLst>
              <a:ext uri="{FF2B5EF4-FFF2-40B4-BE49-F238E27FC236}">
                <a16:creationId xmlns:a16="http://schemas.microsoft.com/office/drawing/2014/main" id="{DACDD0D9-E40D-3C98-1F95-3AD21540207D}"/>
              </a:ext>
            </a:extLst>
          </p:cNvPr>
          <p:cNvSpPr txBox="1"/>
          <p:nvPr/>
        </p:nvSpPr>
        <p:spPr>
          <a:xfrm>
            <a:off x="3111041" y="905060"/>
            <a:ext cx="6673981" cy="646331"/>
          </a:xfrm>
          <a:prstGeom prst="rect">
            <a:avLst/>
          </a:prstGeom>
          <a:noFill/>
        </p:spPr>
        <p:txBody>
          <a:bodyPr wrap="square" rtlCol="0">
            <a:spAutoFit/>
          </a:bodyPr>
          <a:lstStyle/>
          <a:p>
            <a:r>
              <a:rPr lang="en-US" sz="1200" dirty="0">
                <a:solidFill>
                  <a:schemeClr val="accent5">
                    <a:lumMod val="60000"/>
                    <a:lumOff val="40000"/>
                  </a:schemeClr>
                </a:solidFill>
              </a:rPr>
              <a:t>As the role name suggests, this is an approver-only page. All new samples get sent here before being officially activated. The intended flow is for the approver to sign the physical label, then come here and approve it for recording purposes.</a:t>
            </a:r>
          </a:p>
        </p:txBody>
      </p:sp>
      <p:sp>
        <p:nvSpPr>
          <p:cNvPr id="10" name="TextBox 9">
            <a:extLst>
              <a:ext uri="{FF2B5EF4-FFF2-40B4-BE49-F238E27FC236}">
                <a16:creationId xmlns:a16="http://schemas.microsoft.com/office/drawing/2014/main" id="{24328A4C-7937-FE33-A042-428C1E258DF9}"/>
              </a:ext>
            </a:extLst>
          </p:cNvPr>
          <p:cNvSpPr txBox="1"/>
          <p:nvPr/>
        </p:nvSpPr>
        <p:spPr>
          <a:xfrm>
            <a:off x="9690181" y="1677297"/>
            <a:ext cx="1422715" cy="553998"/>
          </a:xfrm>
          <a:prstGeom prst="rect">
            <a:avLst/>
          </a:prstGeom>
          <a:noFill/>
        </p:spPr>
        <p:txBody>
          <a:bodyPr wrap="square" rtlCol="0">
            <a:spAutoFit/>
          </a:bodyPr>
          <a:lstStyle/>
          <a:p>
            <a:r>
              <a:rPr lang="en-US" sz="1000" dirty="0">
                <a:solidFill>
                  <a:schemeClr val="accent5">
                    <a:lumMod val="60000"/>
                    <a:lumOff val="40000"/>
                  </a:schemeClr>
                </a:solidFill>
              </a:rPr>
              <a:t>Deny sample</a:t>
            </a:r>
          </a:p>
          <a:p>
            <a:r>
              <a:rPr lang="en-US" sz="1000" dirty="0">
                <a:solidFill>
                  <a:schemeClr val="accent5">
                    <a:lumMod val="60000"/>
                    <a:lumOff val="40000"/>
                  </a:schemeClr>
                </a:solidFill>
              </a:rPr>
              <a:t>Approve sample</a:t>
            </a:r>
          </a:p>
          <a:p>
            <a:r>
              <a:rPr lang="en-US" sz="1000" dirty="0">
                <a:solidFill>
                  <a:schemeClr val="accent5">
                    <a:lumMod val="60000"/>
                    <a:lumOff val="40000"/>
                  </a:schemeClr>
                </a:solidFill>
              </a:rPr>
              <a:t>See details</a:t>
            </a:r>
          </a:p>
        </p:txBody>
      </p:sp>
      <p:grpSp>
        <p:nvGrpSpPr>
          <p:cNvPr id="12" name="Group 11">
            <a:extLst>
              <a:ext uri="{FF2B5EF4-FFF2-40B4-BE49-F238E27FC236}">
                <a16:creationId xmlns:a16="http://schemas.microsoft.com/office/drawing/2014/main" id="{E01DD911-F199-1A34-1976-844875768D8B}"/>
              </a:ext>
            </a:extLst>
          </p:cNvPr>
          <p:cNvGrpSpPr/>
          <p:nvPr/>
        </p:nvGrpSpPr>
        <p:grpSpPr>
          <a:xfrm>
            <a:off x="10569968" y="1809350"/>
            <a:ext cx="852888" cy="765630"/>
            <a:chOff x="10796588" y="2009775"/>
            <a:chExt cx="614362" cy="638175"/>
          </a:xfrm>
        </p:grpSpPr>
        <p:cxnSp>
          <p:nvCxnSpPr>
            <p:cNvPr id="14" name="Straight Connector 13">
              <a:extLst>
                <a:ext uri="{FF2B5EF4-FFF2-40B4-BE49-F238E27FC236}">
                  <a16:creationId xmlns:a16="http://schemas.microsoft.com/office/drawing/2014/main" id="{398B1AF3-F2F6-78F8-C6C7-12A0CAD87CB2}"/>
                </a:ext>
              </a:extLst>
            </p:cNvPr>
            <p:cNvCxnSpPr>
              <a:cxnSpLocks/>
            </p:cNvCxnSpPr>
            <p:nvPr/>
          </p:nvCxnSpPr>
          <p:spPr>
            <a:xfrm>
              <a:off x="10796588" y="2009775"/>
              <a:ext cx="61436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46E95BB6-76AB-2F07-15D8-AF617A899FF8}"/>
                </a:ext>
              </a:extLst>
            </p:cNvPr>
            <p:cNvCxnSpPr>
              <a:cxnSpLocks/>
            </p:cNvCxnSpPr>
            <p:nvPr/>
          </p:nvCxnSpPr>
          <p:spPr>
            <a:xfrm>
              <a:off x="11410950" y="2014538"/>
              <a:ext cx="0" cy="6334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6" name="Group 15">
            <a:extLst>
              <a:ext uri="{FF2B5EF4-FFF2-40B4-BE49-F238E27FC236}">
                <a16:creationId xmlns:a16="http://schemas.microsoft.com/office/drawing/2014/main" id="{1AB336AF-B70F-115C-EF34-5B5E8D0D1A05}"/>
              </a:ext>
            </a:extLst>
          </p:cNvPr>
          <p:cNvGrpSpPr/>
          <p:nvPr/>
        </p:nvGrpSpPr>
        <p:grpSpPr>
          <a:xfrm>
            <a:off x="10687844" y="1941404"/>
            <a:ext cx="542132" cy="633577"/>
            <a:chOff x="10796588" y="2009775"/>
            <a:chExt cx="614362" cy="638175"/>
          </a:xfrm>
        </p:grpSpPr>
        <p:cxnSp>
          <p:nvCxnSpPr>
            <p:cNvPr id="17" name="Straight Connector 16">
              <a:extLst>
                <a:ext uri="{FF2B5EF4-FFF2-40B4-BE49-F238E27FC236}">
                  <a16:creationId xmlns:a16="http://schemas.microsoft.com/office/drawing/2014/main" id="{FE4D9E1B-0051-02F2-BCF6-4F18BFF8AAE7}"/>
                </a:ext>
              </a:extLst>
            </p:cNvPr>
            <p:cNvCxnSpPr/>
            <p:nvPr/>
          </p:nvCxnSpPr>
          <p:spPr>
            <a:xfrm>
              <a:off x="10796588" y="2009775"/>
              <a:ext cx="61436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14B51983-5998-1622-05B5-5CE2935E6DE0}"/>
                </a:ext>
              </a:extLst>
            </p:cNvPr>
            <p:cNvCxnSpPr/>
            <p:nvPr/>
          </p:nvCxnSpPr>
          <p:spPr>
            <a:xfrm>
              <a:off x="11410950" y="2014538"/>
              <a:ext cx="0" cy="6334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44A772D6-4B57-0080-F980-2CBD04D5D1F2}"/>
              </a:ext>
            </a:extLst>
          </p:cNvPr>
          <p:cNvGrpSpPr/>
          <p:nvPr/>
        </p:nvGrpSpPr>
        <p:grpSpPr>
          <a:xfrm>
            <a:off x="10401539" y="2107786"/>
            <a:ext cx="614358" cy="467187"/>
            <a:chOff x="10796588" y="2009775"/>
            <a:chExt cx="614362" cy="638175"/>
          </a:xfrm>
        </p:grpSpPr>
        <p:cxnSp>
          <p:nvCxnSpPr>
            <p:cNvPr id="21" name="Straight Connector 20">
              <a:extLst>
                <a:ext uri="{FF2B5EF4-FFF2-40B4-BE49-F238E27FC236}">
                  <a16:creationId xmlns:a16="http://schemas.microsoft.com/office/drawing/2014/main" id="{7FBB5FC3-6D87-B682-A025-6C5D987EFA61}"/>
                </a:ext>
              </a:extLst>
            </p:cNvPr>
            <p:cNvCxnSpPr/>
            <p:nvPr/>
          </p:nvCxnSpPr>
          <p:spPr>
            <a:xfrm>
              <a:off x="10796588" y="2009775"/>
              <a:ext cx="61436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359C486C-4EE3-C473-4606-768B39BAB777}"/>
                </a:ext>
              </a:extLst>
            </p:cNvPr>
            <p:cNvCxnSpPr/>
            <p:nvPr/>
          </p:nvCxnSpPr>
          <p:spPr>
            <a:xfrm>
              <a:off x="11410950" y="2014538"/>
              <a:ext cx="0" cy="6334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9364017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01328-71D7-24A8-7930-8F1F4E040512}"/>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A671CC3E-DE9F-EBDB-DDC5-CE167DB4C745}"/>
              </a:ext>
            </a:extLst>
          </p:cNvPr>
          <p:cNvPicPr>
            <a:picLocks noChangeAspect="1"/>
          </p:cNvPicPr>
          <p:nvPr/>
        </p:nvPicPr>
        <p:blipFill>
          <a:blip r:embed="rId2"/>
          <a:stretch>
            <a:fillRect/>
          </a:stretch>
        </p:blipFill>
        <p:spPr>
          <a:xfrm>
            <a:off x="320511" y="905060"/>
            <a:ext cx="11585543" cy="5777647"/>
          </a:xfrm>
          <a:prstGeom prst="rect">
            <a:avLst/>
          </a:prstGeom>
        </p:spPr>
      </p:pic>
      <p:sp>
        <p:nvSpPr>
          <p:cNvPr id="2" name="Title 1">
            <a:extLst>
              <a:ext uri="{FF2B5EF4-FFF2-40B4-BE49-F238E27FC236}">
                <a16:creationId xmlns:a16="http://schemas.microsoft.com/office/drawing/2014/main" id="{FFEC0ADC-2F0C-B55A-2B8D-1E1E01ECA83E}"/>
              </a:ext>
            </a:extLst>
          </p:cNvPr>
          <p:cNvSpPr>
            <a:spLocks noGrp="1"/>
          </p:cNvSpPr>
          <p:nvPr>
            <p:ph type="title"/>
          </p:nvPr>
        </p:nvSpPr>
        <p:spPr/>
        <p:txBody>
          <a:bodyPr>
            <a:normAutofit fontScale="90000"/>
          </a:bodyPr>
          <a:lstStyle/>
          <a:p>
            <a:r>
              <a:rPr lang="en-US" dirty="0"/>
              <a:t>Picking an expiration date</a:t>
            </a:r>
          </a:p>
        </p:txBody>
      </p:sp>
      <p:sp>
        <p:nvSpPr>
          <p:cNvPr id="11" name="TextBox 10">
            <a:extLst>
              <a:ext uri="{FF2B5EF4-FFF2-40B4-BE49-F238E27FC236}">
                <a16:creationId xmlns:a16="http://schemas.microsoft.com/office/drawing/2014/main" id="{5DC0083A-65E9-8991-2C58-1B7AA200B279}"/>
              </a:ext>
            </a:extLst>
          </p:cNvPr>
          <p:cNvSpPr txBox="1"/>
          <p:nvPr/>
        </p:nvSpPr>
        <p:spPr>
          <a:xfrm>
            <a:off x="10237363" y="2624490"/>
            <a:ext cx="1216203" cy="646331"/>
          </a:xfrm>
          <a:prstGeom prst="rect">
            <a:avLst/>
          </a:prstGeom>
          <a:noFill/>
        </p:spPr>
        <p:txBody>
          <a:bodyPr wrap="square" rtlCol="0">
            <a:spAutoFit/>
          </a:bodyPr>
          <a:lstStyle/>
          <a:p>
            <a:r>
              <a:rPr lang="en-US" sz="1200" dirty="0">
                <a:solidFill>
                  <a:schemeClr val="accent5">
                    <a:lumMod val="60000"/>
                    <a:lumOff val="40000"/>
                  </a:schemeClr>
                </a:solidFill>
              </a:rPr>
              <a:t>Disabled until expiration date is provided</a:t>
            </a:r>
          </a:p>
        </p:txBody>
      </p:sp>
      <p:sp>
        <p:nvSpPr>
          <p:cNvPr id="7" name="TextBox 6">
            <a:extLst>
              <a:ext uri="{FF2B5EF4-FFF2-40B4-BE49-F238E27FC236}">
                <a16:creationId xmlns:a16="http://schemas.microsoft.com/office/drawing/2014/main" id="{C37B14DF-EAE0-819B-EF23-C4741299A838}"/>
              </a:ext>
            </a:extLst>
          </p:cNvPr>
          <p:cNvSpPr txBox="1"/>
          <p:nvPr/>
        </p:nvSpPr>
        <p:spPr>
          <a:xfrm>
            <a:off x="4969351" y="2162825"/>
            <a:ext cx="2053618" cy="646331"/>
          </a:xfrm>
          <a:prstGeom prst="rect">
            <a:avLst/>
          </a:prstGeom>
          <a:noFill/>
        </p:spPr>
        <p:txBody>
          <a:bodyPr wrap="square" rtlCol="0">
            <a:spAutoFit/>
          </a:bodyPr>
          <a:lstStyle/>
          <a:p>
            <a:r>
              <a:rPr lang="en-US" sz="1200" dirty="0">
                <a:solidFill>
                  <a:schemeClr val="accent5">
                    <a:lumMod val="60000"/>
                    <a:lumOff val="40000"/>
                  </a:schemeClr>
                </a:solidFill>
              </a:rPr>
              <a:t>Use date picker to select audit-compliant expiry date (defaults to one year)</a:t>
            </a:r>
          </a:p>
        </p:txBody>
      </p:sp>
    </p:spTree>
    <p:extLst>
      <p:ext uri="{BB962C8B-B14F-4D97-AF65-F5344CB8AC3E}">
        <p14:creationId xmlns:p14="http://schemas.microsoft.com/office/powerpoint/2010/main" val="22088164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F19B30D-49BF-EA9D-73D9-0D07A75197D1}"/>
              </a:ext>
            </a:extLst>
          </p:cNvPr>
          <p:cNvPicPr>
            <a:picLocks noChangeAspect="1"/>
          </p:cNvPicPr>
          <p:nvPr/>
        </p:nvPicPr>
        <p:blipFill>
          <a:blip r:embed="rId3"/>
          <a:stretch>
            <a:fillRect/>
          </a:stretch>
        </p:blipFill>
        <p:spPr>
          <a:xfrm>
            <a:off x="311084" y="905060"/>
            <a:ext cx="11613823" cy="5797786"/>
          </a:xfrm>
          <a:prstGeom prst="rect">
            <a:avLst/>
          </a:prstGeom>
        </p:spPr>
      </p:pic>
      <p:sp>
        <p:nvSpPr>
          <p:cNvPr id="2" name="Title 1">
            <a:extLst>
              <a:ext uri="{FF2B5EF4-FFF2-40B4-BE49-F238E27FC236}">
                <a16:creationId xmlns:a16="http://schemas.microsoft.com/office/drawing/2014/main" id="{7C9E53AB-1941-13D1-C21E-AB6BE1454795}"/>
              </a:ext>
            </a:extLst>
          </p:cNvPr>
          <p:cNvSpPr>
            <a:spLocks noGrp="1"/>
          </p:cNvSpPr>
          <p:nvPr>
            <p:ph type="title"/>
          </p:nvPr>
        </p:nvSpPr>
        <p:spPr/>
        <p:txBody>
          <a:bodyPr>
            <a:normAutofit fontScale="90000"/>
          </a:bodyPr>
          <a:lstStyle/>
          <a:p>
            <a:r>
              <a:rPr lang="en-US" dirty="0"/>
              <a:t>Successful sample approval</a:t>
            </a:r>
          </a:p>
        </p:txBody>
      </p:sp>
      <p:sp>
        <p:nvSpPr>
          <p:cNvPr id="9" name="TextBox 8">
            <a:extLst>
              <a:ext uri="{FF2B5EF4-FFF2-40B4-BE49-F238E27FC236}">
                <a16:creationId xmlns:a16="http://schemas.microsoft.com/office/drawing/2014/main" id="{55506DCB-471A-B6F6-397B-A40A9C8E29E1}"/>
              </a:ext>
            </a:extLst>
          </p:cNvPr>
          <p:cNvSpPr txBox="1"/>
          <p:nvPr/>
        </p:nvSpPr>
        <p:spPr>
          <a:xfrm>
            <a:off x="3437508" y="889108"/>
            <a:ext cx="5197445" cy="461665"/>
          </a:xfrm>
          <a:prstGeom prst="rect">
            <a:avLst/>
          </a:prstGeom>
          <a:noFill/>
        </p:spPr>
        <p:txBody>
          <a:bodyPr wrap="square" rtlCol="0">
            <a:spAutoFit/>
          </a:bodyPr>
          <a:lstStyle/>
          <a:p>
            <a:r>
              <a:rPr lang="en-US" sz="1200" dirty="0">
                <a:solidFill>
                  <a:schemeClr val="accent5">
                    <a:lumMod val="60000"/>
                    <a:lumOff val="40000"/>
                  </a:schemeClr>
                </a:solidFill>
              </a:rPr>
              <a:t>Confirming approval activates this sample, deactivates the last revision, hides it from this screen and shows the success toast.</a:t>
            </a:r>
          </a:p>
        </p:txBody>
      </p:sp>
    </p:spTree>
    <p:extLst>
      <p:ext uri="{BB962C8B-B14F-4D97-AF65-F5344CB8AC3E}">
        <p14:creationId xmlns:p14="http://schemas.microsoft.com/office/powerpoint/2010/main" val="3678047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BB3FC-6D58-955F-1C01-F5459B6E87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06B3DD-E1E0-9F46-FE96-8C2337C637FC}"/>
              </a:ext>
            </a:extLst>
          </p:cNvPr>
          <p:cNvSpPr>
            <a:spLocks noGrp="1"/>
          </p:cNvSpPr>
          <p:nvPr>
            <p:ph type="title"/>
          </p:nvPr>
        </p:nvSpPr>
        <p:spPr/>
        <p:txBody>
          <a:bodyPr>
            <a:normAutofit fontScale="90000"/>
          </a:bodyPr>
          <a:lstStyle/>
          <a:p>
            <a:r>
              <a:rPr lang="en-US" dirty="0"/>
              <a:t>Line update</a:t>
            </a:r>
          </a:p>
        </p:txBody>
      </p:sp>
      <p:sp>
        <p:nvSpPr>
          <p:cNvPr id="10" name="TextBox 9">
            <a:extLst>
              <a:ext uri="{FF2B5EF4-FFF2-40B4-BE49-F238E27FC236}">
                <a16:creationId xmlns:a16="http://schemas.microsoft.com/office/drawing/2014/main" id="{95330153-FD92-D840-CDA1-3B352953601D}"/>
              </a:ext>
            </a:extLst>
          </p:cNvPr>
          <p:cNvSpPr txBox="1"/>
          <p:nvPr/>
        </p:nvSpPr>
        <p:spPr>
          <a:xfrm>
            <a:off x="7652785" y="5402017"/>
            <a:ext cx="3607847" cy="276999"/>
          </a:xfrm>
          <a:prstGeom prst="rect">
            <a:avLst/>
          </a:prstGeom>
          <a:noFill/>
        </p:spPr>
        <p:txBody>
          <a:bodyPr wrap="none" rtlCol="0">
            <a:spAutoFit/>
          </a:bodyPr>
          <a:lstStyle/>
          <a:p>
            <a:r>
              <a:rPr lang="en-US" sz="1200" dirty="0">
                <a:solidFill>
                  <a:schemeClr val="accent5">
                    <a:lumMod val="60000"/>
                    <a:lumOff val="40000"/>
                  </a:schemeClr>
                </a:solidFill>
              </a:rPr>
              <a:t>Pressing the expand button highlights the target row</a:t>
            </a:r>
          </a:p>
        </p:txBody>
      </p:sp>
      <p:sp>
        <p:nvSpPr>
          <p:cNvPr id="11" name="TextBox 10">
            <a:extLst>
              <a:ext uri="{FF2B5EF4-FFF2-40B4-BE49-F238E27FC236}">
                <a16:creationId xmlns:a16="http://schemas.microsoft.com/office/drawing/2014/main" id="{48606123-8CE9-6A62-4325-8003ED674D33}"/>
              </a:ext>
            </a:extLst>
          </p:cNvPr>
          <p:cNvSpPr txBox="1"/>
          <p:nvPr/>
        </p:nvSpPr>
        <p:spPr>
          <a:xfrm>
            <a:off x="7812605" y="1835649"/>
            <a:ext cx="3288208" cy="276999"/>
          </a:xfrm>
          <a:prstGeom prst="rect">
            <a:avLst/>
          </a:prstGeom>
          <a:noFill/>
        </p:spPr>
        <p:txBody>
          <a:bodyPr wrap="none" rtlCol="0">
            <a:spAutoFit/>
          </a:bodyPr>
          <a:lstStyle/>
          <a:p>
            <a:r>
              <a:rPr lang="en-US" sz="1200" dirty="0">
                <a:solidFill>
                  <a:schemeClr val="accent5">
                    <a:lumMod val="60000"/>
                    <a:lumOff val="40000"/>
                  </a:schemeClr>
                </a:solidFill>
              </a:rPr>
              <a:t>Can’t change line name, but can edit auth level</a:t>
            </a:r>
          </a:p>
        </p:txBody>
      </p:sp>
      <p:pic>
        <p:nvPicPr>
          <p:cNvPr id="5" name="Picture 4">
            <a:extLst>
              <a:ext uri="{FF2B5EF4-FFF2-40B4-BE49-F238E27FC236}">
                <a16:creationId xmlns:a16="http://schemas.microsoft.com/office/drawing/2014/main" id="{4E7E21EF-9A4F-3463-3268-5D489F03C599}"/>
              </a:ext>
            </a:extLst>
          </p:cNvPr>
          <p:cNvPicPr>
            <a:picLocks noChangeAspect="1"/>
          </p:cNvPicPr>
          <p:nvPr/>
        </p:nvPicPr>
        <p:blipFill>
          <a:blip r:embed="rId2"/>
          <a:stretch>
            <a:fillRect/>
          </a:stretch>
        </p:blipFill>
        <p:spPr>
          <a:xfrm>
            <a:off x="311085" y="905061"/>
            <a:ext cx="11566688" cy="5780320"/>
          </a:xfrm>
          <a:prstGeom prst="rect">
            <a:avLst/>
          </a:prstGeom>
        </p:spPr>
      </p:pic>
      <p:sp>
        <p:nvSpPr>
          <p:cNvPr id="6" name="TextBox 5">
            <a:extLst>
              <a:ext uri="{FF2B5EF4-FFF2-40B4-BE49-F238E27FC236}">
                <a16:creationId xmlns:a16="http://schemas.microsoft.com/office/drawing/2014/main" id="{1F98456D-DD6F-2194-BA8A-5A8F5E60707A}"/>
              </a:ext>
            </a:extLst>
          </p:cNvPr>
          <p:cNvSpPr txBox="1"/>
          <p:nvPr/>
        </p:nvSpPr>
        <p:spPr>
          <a:xfrm>
            <a:off x="4680802" y="2023799"/>
            <a:ext cx="2634398" cy="400110"/>
          </a:xfrm>
          <a:prstGeom prst="rect">
            <a:avLst/>
          </a:prstGeom>
          <a:noFill/>
        </p:spPr>
        <p:txBody>
          <a:bodyPr wrap="square" rtlCol="0">
            <a:spAutoFit/>
          </a:bodyPr>
          <a:lstStyle/>
          <a:p>
            <a:r>
              <a:rPr lang="en-US" sz="1000" dirty="0">
                <a:solidFill>
                  <a:schemeClr val="accent5">
                    <a:lumMod val="60000"/>
                    <a:lumOff val="40000"/>
                  </a:schemeClr>
                </a:solidFill>
              </a:rPr>
              <a:t>Press cancel to take no action, or remove to deny the sample</a:t>
            </a:r>
          </a:p>
        </p:txBody>
      </p:sp>
    </p:spTree>
    <p:extLst>
      <p:ext uri="{BB962C8B-B14F-4D97-AF65-F5344CB8AC3E}">
        <p14:creationId xmlns:p14="http://schemas.microsoft.com/office/powerpoint/2010/main" val="36532328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367C028-F00D-F9A7-180A-206C208803A1}"/>
              </a:ext>
            </a:extLst>
          </p:cNvPr>
          <p:cNvPicPr>
            <a:picLocks noChangeAspect="1"/>
          </p:cNvPicPr>
          <p:nvPr/>
        </p:nvPicPr>
        <p:blipFill>
          <a:blip r:embed="rId2"/>
          <a:stretch>
            <a:fillRect/>
          </a:stretch>
        </p:blipFill>
        <p:spPr>
          <a:xfrm>
            <a:off x="248816" y="905060"/>
            <a:ext cx="11685518" cy="5830496"/>
          </a:xfrm>
          <a:prstGeom prst="rect">
            <a:avLst/>
          </a:prstGeom>
        </p:spPr>
      </p:pic>
      <p:sp>
        <p:nvSpPr>
          <p:cNvPr id="2" name="Title 1">
            <a:extLst>
              <a:ext uri="{FF2B5EF4-FFF2-40B4-BE49-F238E27FC236}">
                <a16:creationId xmlns:a16="http://schemas.microsoft.com/office/drawing/2014/main" id="{30A0EF82-9048-D9C8-FD62-CFD3615CE3D0}"/>
              </a:ext>
            </a:extLst>
          </p:cNvPr>
          <p:cNvSpPr>
            <a:spLocks noGrp="1"/>
          </p:cNvSpPr>
          <p:nvPr>
            <p:ph type="title"/>
          </p:nvPr>
        </p:nvSpPr>
        <p:spPr/>
        <p:txBody>
          <a:bodyPr>
            <a:normAutofit fontScale="90000"/>
          </a:bodyPr>
          <a:lstStyle/>
          <a:p>
            <a:r>
              <a:rPr lang="en-US" dirty="0"/>
              <a:t>Successful line removal</a:t>
            </a:r>
          </a:p>
        </p:txBody>
      </p:sp>
      <p:sp>
        <p:nvSpPr>
          <p:cNvPr id="6" name="TextBox 5">
            <a:extLst>
              <a:ext uri="{FF2B5EF4-FFF2-40B4-BE49-F238E27FC236}">
                <a16:creationId xmlns:a16="http://schemas.microsoft.com/office/drawing/2014/main" id="{9B358EE2-CCFC-730B-F954-2694FB08DA87}"/>
              </a:ext>
            </a:extLst>
          </p:cNvPr>
          <p:cNvSpPr txBox="1"/>
          <p:nvPr/>
        </p:nvSpPr>
        <p:spPr>
          <a:xfrm>
            <a:off x="4682059" y="1016739"/>
            <a:ext cx="2812329" cy="461665"/>
          </a:xfrm>
          <a:prstGeom prst="rect">
            <a:avLst/>
          </a:prstGeom>
          <a:noFill/>
        </p:spPr>
        <p:txBody>
          <a:bodyPr wrap="square" rtlCol="0">
            <a:spAutoFit/>
          </a:bodyPr>
          <a:lstStyle/>
          <a:p>
            <a:r>
              <a:rPr lang="en-US" sz="1200" dirty="0">
                <a:solidFill>
                  <a:schemeClr val="accent5">
                    <a:lumMod val="60000"/>
                    <a:lumOff val="40000"/>
                  </a:schemeClr>
                </a:solidFill>
              </a:rPr>
              <a:t>Successful removal shows the success toast and hides it from this page</a:t>
            </a:r>
          </a:p>
        </p:txBody>
      </p:sp>
    </p:spTree>
    <p:extLst>
      <p:ext uri="{BB962C8B-B14F-4D97-AF65-F5344CB8AC3E}">
        <p14:creationId xmlns:p14="http://schemas.microsoft.com/office/powerpoint/2010/main" val="10887933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BD29ECC-5273-05DB-B417-1F5219F2AD4B}"/>
              </a:ext>
            </a:extLst>
          </p:cNvPr>
          <p:cNvPicPr>
            <a:picLocks noChangeAspect="1"/>
          </p:cNvPicPr>
          <p:nvPr/>
        </p:nvPicPr>
        <p:blipFill>
          <a:blip r:embed="rId2"/>
          <a:stretch>
            <a:fillRect/>
          </a:stretch>
        </p:blipFill>
        <p:spPr>
          <a:xfrm>
            <a:off x="311084" y="896377"/>
            <a:ext cx="11613823" cy="5770467"/>
          </a:xfrm>
          <a:prstGeom prst="rect">
            <a:avLst/>
          </a:prstGeom>
        </p:spPr>
      </p:pic>
      <p:sp>
        <p:nvSpPr>
          <p:cNvPr id="2" name="Title 1">
            <a:extLst>
              <a:ext uri="{FF2B5EF4-FFF2-40B4-BE49-F238E27FC236}">
                <a16:creationId xmlns:a16="http://schemas.microsoft.com/office/drawing/2014/main" id="{E6508E0A-92CC-03AA-E9FC-0AE175DD53D4}"/>
              </a:ext>
            </a:extLst>
          </p:cNvPr>
          <p:cNvSpPr>
            <a:spLocks noGrp="1"/>
          </p:cNvSpPr>
          <p:nvPr>
            <p:ph type="title"/>
          </p:nvPr>
        </p:nvSpPr>
        <p:spPr>
          <a:xfrm>
            <a:off x="2474834" y="216473"/>
            <a:ext cx="7007289" cy="679904"/>
          </a:xfrm>
        </p:spPr>
        <p:txBody>
          <a:bodyPr anchor="t">
            <a:normAutofit/>
          </a:bodyPr>
          <a:lstStyle/>
          <a:p>
            <a:r>
              <a:rPr lang="en-US" sz="4100" dirty="0"/>
              <a:t>Request sample remakes</a:t>
            </a:r>
          </a:p>
        </p:txBody>
      </p:sp>
      <p:sp>
        <p:nvSpPr>
          <p:cNvPr id="16" name="TextBox 15">
            <a:extLst>
              <a:ext uri="{FF2B5EF4-FFF2-40B4-BE49-F238E27FC236}">
                <a16:creationId xmlns:a16="http://schemas.microsoft.com/office/drawing/2014/main" id="{B8EE368C-CDA1-945F-61C4-B38F20B47673}"/>
              </a:ext>
            </a:extLst>
          </p:cNvPr>
          <p:cNvSpPr txBox="1"/>
          <p:nvPr/>
        </p:nvSpPr>
        <p:spPr>
          <a:xfrm>
            <a:off x="9545323" y="1877734"/>
            <a:ext cx="1422715" cy="400110"/>
          </a:xfrm>
          <a:prstGeom prst="rect">
            <a:avLst/>
          </a:prstGeom>
          <a:noFill/>
        </p:spPr>
        <p:txBody>
          <a:bodyPr wrap="square" rtlCol="0">
            <a:spAutoFit/>
          </a:bodyPr>
          <a:lstStyle/>
          <a:p>
            <a:r>
              <a:rPr lang="en-US" sz="1000" dirty="0">
                <a:solidFill>
                  <a:schemeClr val="accent5">
                    <a:lumMod val="60000"/>
                    <a:lumOff val="40000"/>
                  </a:schemeClr>
                </a:solidFill>
              </a:rPr>
              <a:t>Request remake</a:t>
            </a:r>
          </a:p>
          <a:p>
            <a:r>
              <a:rPr lang="en-US" sz="1000" dirty="0">
                <a:solidFill>
                  <a:schemeClr val="accent5">
                    <a:lumMod val="60000"/>
                    <a:lumOff val="40000"/>
                  </a:schemeClr>
                </a:solidFill>
              </a:rPr>
              <a:t>Sample details</a:t>
            </a:r>
          </a:p>
        </p:txBody>
      </p:sp>
      <p:sp>
        <p:nvSpPr>
          <p:cNvPr id="8" name="TextBox 7">
            <a:extLst>
              <a:ext uri="{FF2B5EF4-FFF2-40B4-BE49-F238E27FC236}">
                <a16:creationId xmlns:a16="http://schemas.microsoft.com/office/drawing/2014/main" id="{B08B950B-35A8-1AE2-0C2C-DACBB167589B}"/>
              </a:ext>
            </a:extLst>
          </p:cNvPr>
          <p:cNvSpPr txBox="1"/>
          <p:nvPr/>
        </p:nvSpPr>
        <p:spPr>
          <a:xfrm>
            <a:off x="4368926" y="896377"/>
            <a:ext cx="3454148" cy="553998"/>
          </a:xfrm>
          <a:prstGeom prst="rect">
            <a:avLst/>
          </a:prstGeom>
          <a:noFill/>
        </p:spPr>
        <p:txBody>
          <a:bodyPr wrap="square" rtlCol="0">
            <a:spAutoFit/>
          </a:bodyPr>
          <a:lstStyle/>
          <a:p>
            <a:r>
              <a:rPr lang="en-US" sz="1000" dirty="0">
                <a:solidFill>
                  <a:schemeClr val="accent5">
                    <a:lumMod val="60000"/>
                    <a:lumOff val="40000"/>
                  </a:schemeClr>
                </a:solidFill>
              </a:rPr>
              <a:t>This page can only be seen by non-approvers. Associates can come here to report a sample which fails to complete its purpose, which can then be remade by an approver.</a:t>
            </a:r>
          </a:p>
        </p:txBody>
      </p:sp>
      <p:grpSp>
        <p:nvGrpSpPr>
          <p:cNvPr id="24" name="Group 23">
            <a:extLst>
              <a:ext uri="{FF2B5EF4-FFF2-40B4-BE49-F238E27FC236}">
                <a16:creationId xmlns:a16="http://schemas.microsoft.com/office/drawing/2014/main" id="{09768728-BC9E-538B-3C75-D886198F7B13}"/>
              </a:ext>
            </a:extLst>
          </p:cNvPr>
          <p:cNvGrpSpPr/>
          <p:nvPr/>
        </p:nvGrpSpPr>
        <p:grpSpPr>
          <a:xfrm>
            <a:off x="10560842" y="2009775"/>
            <a:ext cx="850108" cy="638175"/>
            <a:chOff x="10796588" y="2009775"/>
            <a:chExt cx="614362" cy="638175"/>
          </a:xfrm>
        </p:grpSpPr>
        <p:cxnSp>
          <p:nvCxnSpPr>
            <p:cNvPr id="21" name="Straight Connector 20">
              <a:extLst>
                <a:ext uri="{FF2B5EF4-FFF2-40B4-BE49-F238E27FC236}">
                  <a16:creationId xmlns:a16="http://schemas.microsoft.com/office/drawing/2014/main" id="{6DE39D4C-B7B0-9B66-1E18-53E9A9992F81}"/>
                </a:ext>
              </a:extLst>
            </p:cNvPr>
            <p:cNvCxnSpPr>
              <a:cxnSpLocks/>
            </p:cNvCxnSpPr>
            <p:nvPr/>
          </p:nvCxnSpPr>
          <p:spPr>
            <a:xfrm>
              <a:off x="10796588" y="2009775"/>
              <a:ext cx="61436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736B7E8C-C5F3-383F-EEB2-136B82285C47}"/>
                </a:ext>
              </a:extLst>
            </p:cNvPr>
            <p:cNvCxnSpPr>
              <a:cxnSpLocks/>
            </p:cNvCxnSpPr>
            <p:nvPr/>
          </p:nvCxnSpPr>
          <p:spPr>
            <a:xfrm>
              <a:off x="11410950" y="2014538"/>
              <a:ext cx="0" cy="6334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70ED967F-D2FC-E199-A3F4-12F2BCBBDD0A}"/>
              </a:ext>
            </a:extLst>
          </p:cNvPr>
          <p:cNvGrpSpPr/>
          <p:nvPr/>
        </p:nvGrpSpPr>
        <p:grpSpPr>
          <a:xfrm>
            <a:off x="10560843" y="2162175"/>
            <a:ext cx="614359" cy="527505"/>
            <a:chOff x="10796588" y="2009775"/>
            <a:chExt cx="614362" cy="638175"/>
          </a:xfrm>
        </p:grpSpPr>
        <p:cxnSp>
          <p:nvCxnSpPr>
            <p:cNvPr id="26" name="Straight Connector 25">
              <a:extLst>
                <a:ext uri="{FF2B5EF4-FFF2-40B4-BE49-F238E27FC236}">
                  <a16:creationId xmlns:a16="http://schemas.microsoft.com/office/drawing/2014/main" id="{55DB8852-41AD-580C-F433-ECA6EE90305D}"/>
                </a:ext>
              </a:extLst>
            </p:cNvPr>
            <p:cNvCxnSpPr/>
            <p:nvPr/>
          </p:nvCxnSpPr>
          <p:spPr>
            <a:xfrm>
              <a:off x="10796588" y="2009775"/>
              <a:ext cx="61436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273792C5-5821-ECC1-5F78-FBC21EADBE87}"/>
                </a:ext>
              </a:extLst>
            </p:cNvPr>
            <p:cNvCxnSpPr/>
            <p:nvPr/>
          </p:nvCxnSpPr>
          <p:spPr>
            <a:xfrm>
              <a:off x="11410950" y="2014538"/>
              <a:ext cx="0" cy="6334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31" name="TextBox 30">
            <a:extLst>
              <a:ext uri="{FF2B5EF4-FFF2-40B4-BE49-F238E27FC236}">
                <a16:creationId xmlns:a16="http://schemas.microsoft.com/office/drawing/2014/main" id="{CB618742-F428-F144-793C-64CEDFF6A89F}"/>
              </a:ext>
            </a:extLst>
          </p:cNvPr>
          <p:cNvSpPr txBox="1"/>
          <p:nvPr/>
        </p:nvSpPr>
        <p:spPr>
          <a:xfrm>
            <a:off x="596383" y="1173376"/>
            <a:ext cx="369332" cy="3572645"/>
          </a:xfrm>
          <a:prstGeom prst="rect">
            <a:avLst/>
          </a:prstGeom>
          <a:noFill/>
        </p:spPr>
        <p:txBody>
          <a:bodyPr vert="eaVert" wrap="none" rtlCol="0">
            <a:spAutoFit/>
          </a:bodyPr>
          <a:lstStyle/>
          <a:p>
            <a:r>
              <a:rPr lang="en-US" sz="1200" dirty="0">
                <a:solidFill>
                  <a:schemeClr val="accent5">
                    <a:lumMod val="60000"/>
                    <a:lumOff val="40000"/>
                  </a:schemeClr>
                </a:solidFill>
              </a:rPr>
              <a:t>Side note: non-approvers have fewer pages available</a:t>
            </a:r>
          </a:p>
        </p:txBody>
      </p:sp>
      <p:sp>
        <p:nvSpPr>
          <p:cNvPr id="32" name="TextBox 31">
            <a:extLst>
              <a:ext uri="{FF2B5EF4-FFF2-40B4-BE49-F238E27FC236}">
                <a16:creationId xmlns:a16="http://schemas.microsoft.com/office/drawing/2014/main" id="{24FA0A7E-D5C0-FE74-75CA-8E3D65129EDD}"/>
              </a:ext>
            </a:extLst>
          </p:cNvPr>
          <p:cNvSpPr txBox="1"/>
          <p:nvPr/>
        </p:nvSpPr>
        <p:spPr>
          <a:xfrm>
            <a:off x="4008231" y="1477624"/>
            <a:ext cx="4219528" cy="400110"/>
          </a:xfrm>
          <a:prstGeom prst="rect">
            <a:avLst/>
          </a:prstGeom>
          <a:noFill/>
        </p:spPr>
        <p:txBody>
          <a:bodyPr wrap="square" rtlCol="0">
            <a:spAutoFit/>
          </a:bodyPr>
          <a:lstStyle/>
          <a:p>
            <a:r>
              <a:rPr lang="en-US" sz="1000" dirty="0">
                <a:solidFill>
                  <a:schemeClr val="accent5">
                    <a:lumMod val="60000"/>
                    <a:lumOff val="40000"/>
                  </a:schemeClr>
                </a:solidFill>
              </a:rPr>
              <a:t>Only approved samples without a pending remake request are shown, as unapproved samples would simply be denied if a remake were necessary</a:t>
            </a:r>
          </a:p>
        </p:txBody>
      </p:sp>
    </p:spTree>
    <p:extLst>
      <p:ext uri="{BB962C8B-B14F-4D97-AF65-F5344CB8AC3E}">
        <p14:creationId xmlns:p14="http://schemas.microsoft.com/office/powerpoint/2010/main" val="19521648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AAA1D-EA89-FE80-681B-40F4FD628AC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C622D49-2850-1823-917D-F6679B3725FE}"/>
              </a:ext>
            </a:extLst>
          </p:cNvPr>
          <p:cNvPicPr>
            <a:picLocks noChangeAspect="1"/>
          </p:cNvPicPr>
          <p:nvPr/>
        </p:nvPicPr>
        <p:blipFill>
          <a:blip r:embed="rId2"/>
          <a:stretch>
            <a:fillRect/>
          </a:stretch>
        </p:blipFill>
        <p:spPr>
          <a:xfrm>
            <a:off x="301658" y="896377"/>
            <a:ext cx="11566688" cy="5780314"/>
          </a:xfrm>
          <a:prstGeom prst="rect">
            <a:avLst/>
          </a:prstGeom>
        </p:spPr>
      </p:pic>
      <p:sp>
        <p:nvSpPr>
          <p:cNvPr id="2" name="Title 1">
            <a:extLst>
              <a:ext uri="{FF2B5EF4-FFF2-40B4-BE49-F238E27FC236}">
                <a16:creationId xmlns:a16="http://schemas.microsoft.com/office/drawing/2014/main" id="{682FA5A8-1001-0B3F-76A6-3D6048C48ECD}"/>
              </a:ext>
            </a:extLst>
          </p:cNvPr>
          <p:cNvSpPr>
            <a:spLocks noGrp="1"/>
          </p:cNvSpPr>
          <p:nvPr>
            <p:ph type="title"/>
          </p:nvPr>
        </p:nvSpPr>
        <p:spPr>
          <a:xfrm>
            <a:off x="2474834" y="216473"/>
            <a:ext cx="7007289" cy="679904"/>
          </a:xfrm>
        </p:spPr>
        <p:txBody>
          <a:bodyPr anchor="t">
            <a:normAutofit/>
          </a:bodyPr>
          <a:lstStyle/>
          <a:p>
            <a:r>
              <a:rPr lang="en-US" sz="4100" dirty="0"/>
              <a:t>Remake request form</a:t>
            </a:r>
          </a:p>
        </p:txBody>
      </p:sp>
      <p:sp>
        <p:nvSpPr>
          <p:cNvPr id="16" name="TextBox 15">
            <a:extLst>
              <a:ext uri="{FF2B5EF4-FFF2-40B4-BE49-F238E27FC236}">
                <a16:creationId xmlns:a16="http://schemas.microsoft.com/office/drawing/2014/main" id="{1682214F-79AB-C03D-EA60-9D42BF197084}"/>
              </a:ext>
            </a:extLst>
          </p:cNvPr>
          <p:cNvSpPr txBox="1"/>
          <p:nvPr/>
        </p:nvSpPr>
        <p:spPr>
          <a:xfrm>
            <a:off x="4981931" y="896377"/>
            <a:ext cx="2206142" cy="461665"/>
          </a:xfrm>
          <a:prstGeom prst="rect">
            <a:avLst/>
          </a:prstGeom>
          <a:noFill/>
        </p:spPr>
        <p:txBody>
          <a:bodyPr wrap="square" rtlCol="0">
            <a:spAutoFit/>
          </a:bodyPr>
          <a:lstStyle/>
          <a:p>
            <a:r>
              <a:rPr lang="en-US" sz="1200" dirty="0">
                <a:solidFill>
                  <a:schemeClr val="accent5">
                    <a:lumMod val="60000"/>
                    <a:lumOff val="40000"/>
                  </a:schemeClr>
                </a:solidFill>
              </a:rPr>
              <a:t>Pressing the request remake button opens this form</a:t>
            </a:r>
          </a:p>
        </p:txBody>
      </p:sp>
      <p:sp>
        <p:nvSpPr>
          <p:cNvPr id="5" name="TextBox 4">
            <a:extLst>
              <a:ext uri="{FF2B5EF4-FFF2-40B4-BE49-F238E27FC236}">
                <a16:creationId xmlns:a16="http://schemas.microsoft.com/office/drawing/2014/main" id="{B25F200D-D65F-546D-724B-6A26E83AECAF}"/>
              </a:ext>
            </a:extLst>
          </p:cNvPr>
          <p:cNvSpPr txBox="1"/>
          <p:nvPr/>
        </p:nvSpPr>
        <p:spPr>
          <a:xfrm>
            <a:off x="2299183" y="3099827"/>
            <a:ext cx="1770093" cy="276999"/>
          </a:xfrm>
          <a:prstGeom prst="rect">
            <a:avLst/>
          </a:prstGeom>
          <a:noFill/>
        </p:spPr>
        <p:txBody>
          <a:bodyPr wrap="square" rtlCol="0">
            <a:spAutoFit/>
          </a:bodyPr>
          <a:lstStyle/>
          <a:p>
            <a:r>
              <a:rPr lang="en-US" sz="1200" dirty="0">
                <a:solidFill>
                  <a:schemeClr val="accent5">
                    <a:lumMod val="60000"/>
                    <a:lumOff val="40000"/>
                  </a:schemeClr>
                </a:solidFill>
              </a:rPr>
              <a:t>For traceability</a:t>
            </a:r>
          </a:p>
        </p:txBody>
      </p:sp>
      <p:sp>
        <p:nvSpPr>
          <p:cNvPr id="7" name="TextBox 6">
            <a:extLst>
              <a:ext uri="{FF2B5EF4-FFF2-40B4-BE49-F238E27FC236}">
                <a16:creationId xmlns:a16="http://schemas.microsoft.com/office/drawing/2014/main" id="{310A110C-4FB2-2188-4D4A-0FF69FD8D30E}"/>
              </a:ext>
            </a:extLst>
          </p:cNvPr>
          <p:cNvSpPr txBox="1"/>
          <p:nvPr/>
        </p:nvSpPr>
        <p:spPr>
          <a:xfrm>
            <a:off x="4119064" y="3099827"/>
            <a:ext cx="3499259" cy="276999"/>
          </a:xfrm>
          <a:prstGeom prst="rect">
            <a:avLst/>
          </a:prstGeom>
          <a:noFill/>
        </p:spPr>
        <p:txBody>
          <a:bodyPr wrap="square" rtlCol="0">
            <a:spAutoFit/>
          </a:bodyPr>
          <a:lstStyle/>
          <a:p>
            <a:r>
              <a:rPr lang="en-US" sz="1200" dirty="0">
                <a:solidFill>
                  <a:schemeClr val="accent5">
                    <a:lumMod val="60000"/>
                    <a:lumOff val="40000"/>
                  </a:schemeClr>
                </a:solidFill>
              </a:rPr>
              <a:t>Pick the most accurate reason from the dropdown</a:t>
            </a:r>
          </a:p>
        </p:txBody>
      </p:sp>
      <p:sp>
        <p:nvSpPr>
          <p:cNvPr id="9" name="TextBox 8">
            <a:extLst>
              <a:ext uri="{FF2B5EF4-FFF2-40B4-BE49-F238E27FC236}">
                <a16:creationId xmlns:a16="http://schemas.microsoft.com/office/drawing/2014/main" id="{E957AAFF-89B0-53D3-95AF-E824B24DB8FD}"/>
              </a:ext>
            </a:extLst>
          </p:cNvPr>
          <p:cNvSpPr txBox="1"/>
          <p:nvPr/>
        </p:nvSpPr>
        <p:spPr>
          <a:xfrm>
            <a:off x="7551185" y="3099827"/>
            <a:ext cx="2589765" cy="276999"/>
          </a:xfrm>
          <a:prstGeom prst="rect">
            <a:avLst/>
          </a:prstGeom>
          <a:noFill/>
        </p:spPr>
        <p:txBody>
          <a:bodyPr wrap="square" rtlCol="0">
            <a:spAutoFit/>
          </a:bodyPr>
          <a:lstStyle/>
          <a:p>
            <a:r>
              <a:rPr lang="en-US" sz="1200" dirty="0">
                <a:solidFill>
                  <a:schemeClr val="accent5">
                    <a:lumMod val="60000"/>
                    <a:lumOff val="40000"/>
                  </a:schemeClr>
                </a:solidFill>
              </a:rPr>
              <a:t>Provide context as desired</a:t>
            </a:r>
          </a:p>
        </p:txBody>
      </p:sp>
      <p:sp>
        <p:nvSpPr>
          <p:cNvPr id="10" name="TextBox 9">
            <a:extLst>
              <a:ext uri="{FF2B5EF4-FFF2-40B4-BE49-F238E27FC236}">
                <a16:creationId xmlns:a16="http://schemas.microsoft.com/office/drawing/2014/main" id="{81FF1BCD-9264-D3E6-5B85-608F9325B514}"/>
              </a:ext>
            </a:extLst>
          </p:cNvPr>
          <p:cNvSpPr txBox="1"/>
          <p:nvPr/>
        </p:nvSpPr>
        <p:spPr>
          <a:xfrm>
            <a:off x="10140950" y="3234954"/>
            <a:ext cx="1682491" cy="553998"/>
          </a:xfrm>
          <a:prstGeom prst="rect">
            <a:avLst/>
          </a:prstGeom>
          <a:noFill/>
        </p:spPr>
        <p:txBody>
          <a:bodyPr wrap="square" rtlCol="0">
            <a:spAutoFit/>
          </a:bodyPr>
          <a:lstStyle/>
          <a:p>
            <a:r>
              <a:rPr lang="en-US" sz="1000" dirty="0">
                <a:solidFill>
                  <a:schemeClr val="accent5">
                    <a:lumMod val="60000"/>
                    <a:lumOff val="40000"/>
                  </a:schemeClr>
                </a:solidFill>
              </a:rPr>
              <a:t>Grayed out until associate number &amp; sample reason are provided</a:t>
            </a:r>
          </a:p>
        </p:txBody>
      </p:sp>
      <p:sp>
        <p:nvSpPr>
          <p:cNvPr id="11" name="TextBox 10">
            <a:extLst>
              <a:ext uri="{FF2B5EF4-FFF2-40B4-BE49-F238E27FC236}">
                <a16:creationId xmlns:a16="http://schemas.microsoft.com/office/drawing/2014/main" id="{AE0EBFFC-0C85-94BF-DC4E-BDD8B157CA92}"/>
              </a:ext>
            </a:extLst>
          </p:cNvPr>
          <p:cNvSpPr txBox="1"/>
          <p:nvPr/>
        </p:nvSpPr>
        <p:spPr>
          <a:xfrm>
            <a:off x="4505325" y="3478727"/>
            <a:ext cx="3181350" cy="246221"/>
          </a:xfrm>
          <a:prstGeom prst="rect">
            <a:avLst/>
          </a:prstGeom>
          <a:noFill/>
        </p:spPr>
        <p:txBody>
          <a:bodyPr wrap="square" rtlCol="0">
            <a:spAutoFit/>
          </a:bodyPr>
          <a:lstStyle/>
          <a:p>
            <a:r>
              <a:rPr lang="en-US" sz="1000" dirty="0">
                <a:solidFill>
                  <a:schemeClr val="accent5">
                    <a:lumMod val="60000"/>
                    <a:lumOff val="40000"/>
                  </a:schemeClr>
                </a:solidFill>
              </a:rPr>
              <a:t>Errors for this form are rare, but they’ll appear here</a:t>
            </a:r>
          </a:p>
        </p:txBody>
      </p:sp>
    </p:spTree>
    <p:extLst>
      <p:ext uri="{BB962C8B-B14F-4D97-AF65-F5344CB8AC3E}">
        <p14:creationId xmlns:p14="http://schemas.microsoft.com/office/powerpoint/2010/main" val="25496639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4691D-7B78-2442-EACF-5DB7B877E37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EDE2005-2EA0-6403-E538-53352E247912}"/>
              </a:ext>
            </a:extLst>
          </p:cNvPr>
          <p:cNvPicPr>
            <a:picLocks noChangeAspect="1"/>
          </p:cNvPicPr>
          <p:nvPr/>
        </p:nvPicPr>
        <p:blipFill>
          <a:blip r:embed="rId2"/>
          <a:stretch>
            <a:fillRect/>
          </a:stretch>
        </p:blipFill>
        <p:spPr>
          <a:xfrm>
            <a:off x="292231" y="896378"/>
            <a:ext cx="11604396" cy="5777971"/>
          </a:xfrm>
          <a:prstGeom prst="rect">
            <a:avLst/>
          </a:prstGeom>
        </p:spPr>
      </p:pic>
      <p:sp>
        <p:nvSpPr>
          <p:cNvPr id="2" name="Title 1">
            <a:extLst>
              <a:ext uri="{FF2B5EF4-FFF2-40B4-BE49-F238E27FC236}">
                <a16:creationId xmlns:a16="http://schemas.microsoft.com/office/drawing/2014/main" id="{20DE9625-CCCA-51B8-9A7B-931DCC5B30B6}"/>
              </a:ext>
            </a:extLst>
          </p:cNvPr>
          <p:cNvSpPr>
            <a:spLocks noGrp="1"/>
          </p:cNvSpPr>
          <p:nvPr>
            <p:ph type="title"/>
          </p:nvPr>
        </p:nvSpPr>
        <p:spPr>
          <a:xfrm>
            <a:off x="2474834" y="216473"/>
            <a:ext cx="7007289" cy="679904"/>
          </a:xfrm>
        </p:spPr>
        <p:txBody>
          <a:bodyPr anchor="t">
            <a:normAutofit/>
          </a:bodyPr>
          <a:lstStyle/>
          <a:p>
            <a:r>
              <a:rPr lang="en-US" sz="4100" dirty="0"/>
              <a:t>Successful remake request</a:t>
            </a:r>
          </a:p>
        </p:txBody>
      </p:sp>
      <p:sp>
        <p:nvSpPr>
          <p:cNvPr id="16" name="TextBox 15">
            <a:extLst>
              <a:ext uri="{FF2B5EF4-FFF2-40B4-BE49-F238E27FC236}">
                <a16:creationId xmlns:a16="http://schemas.microsoft.com/office/drawing/2014/main" id="{51DC049B-AB7A-3589-D31B-45A85A49DB06}"/>
              </a:ext>
            </a:extLst>
          </p:cNvPr>
          <p:cNvSpPr txBox="1"/>
          <p:nvPr/>
        </p:nvSpPr>
        <p:spPr>
          <a:xfrm>
            <a:off x="4465372" y="971791"/>
            <a:ext cx="3258114" cy="400110"/>
          </a:xfrm>
          <a:prstGeom prst="rect">
            <a:avLst/>
          </a:prstGeom>
          <a:noFill/>
        </p:spPr>
        <p:txBody>
          <a:bodyPr wrap="square" rtlCol="0">
            <a:spAutoFit/>
          </a:bodyPr>
          <a:lstStyle/>
          <a:p>
            <a:r>
              <a:rPr lang="en-US" sz="1000" dirty="0">
                <a:solidFill>
                  <a:schemeClr val="accent5">
                    <a:lumMod val="60000"/>
                    <a:lumOff val="40000"/>
                  </a:schemeClr>
                </a:solidFill>
              </a:rPr>
              <a:t>A successful remake request will hide the target sample, because it now has a pending remake request</a:t>
            </a:r>
          </a:p>
        </p:txBody>
      </p:sp>
      <p:sp>
        <p:nvSpPr>
          <p:cNvPr id="7" name="TextBox 6">
            <a:extLst>
              <a:ext uri="{FF2B5EF4-FFF2-40B4-BE49-F238E27FC236}">
                <a16:creationId xmlns:a16="http://schemas.microsoft.com/office/drawing/2014/main" id="{B34E7A05-9493-E368-4770-EC07E5A475BB}"/>
              </a:ext>
            </a:extLst>
          </p:cNvPr>
          <p:cNvSpPr txBox="1"/>
          <p:nvPr/>
        </p:nvSpPr>
        <p:spPr>
          <a:xfrm>
            <a:off x="8942709" y="6172965"/>
            <a:ext cx="2953918" cy="246221"/>
          </a:xfrm>
          <a:prstGeom prst="rect">
            <a:avLst/>
          </a:prstGeom>
          <a:noFill/>
        </p:spPr>
        <p:txBody>
          <a:bodyPr wrap="square" rtlCol="0">
            <a:spAutoFit/>
          </a:bodyPr>
          <a:lstStyle/>
          <a:p>
            <a:r>
              <a:rPr lang="en-US" sz="1000" dirty="0">
                <a:solidFill>
                  <a:schemeClr val="accent5">
                    <a:lumMod val="60000"/>
                    <a:lumOff val="40000"/>
                  </a:schemeClr>
                </a:solidFill>
              </a:rPr>
              <a:t>Upon successful request, there will be a toast</a:t>
            </a:r>
          </a:p>
        </p:txBody>
      </p:sp>
    </p:spTree>
    <p:extLst>
      <p:ext uri="{BB962C8B-B14F-4D97-AF65-F5344CB8AC3E}">
        <p14:creationId xmlns:p14="http://schemas.microsoft.com/office/powerpoint/2010/main" val="17316669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4ADD1-DBFD-D4FC-AC04-0D5A4ACA042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DBCA403-0172-0F7A-5529-1E8319CA5743}"/>
              </a:ext>
            </a:extLst>
          </p:cNvPr>
          <p:cNvPicPr>
            <a:picLocks noChangeAspect="1"/>
          </p:cNvPicPr>
          <p:nvPr/>
        </p:nvPicPr>
        <p:blipFill>
          <a:blip r:embed="rId2"/>
          <a:stretch>
            <a:fillRect/>
          </a:stretch>
        </p:blipFill>
        <p:spPr>
          <a:xfrm>
            <a:off x="311084" y="905060"/>
            <a:ext cx="11566689" cy="5780318"/>
          </a:xfrm>
          <a:prstGeom prst="rect">
            <a:avLst/>
          </a:prstGeom>
        </p:spPr>
      </p:pic>
      <p:sp>
        <p:nvSpPr>
          <p:cNvPr id="2" name="Title 1">
            <a:extLst>
              <a:ext uri="{FF2B5EF4-FFF2-40B4-BE49-F238E27FC236}">
                <a16:creationId xmlns:a16="http://schemas.microsoft.com/office/drawing/2014/main" id="{1AD7534C-EF61-6C76-F758-B183185B4F6A}"/>
              </a:ext>
            </a:extLst>
          </p:cNvPr>
          <p:cNvSpPr>
            <a:spLocks noGrp="1"/>
          </p:cNvSpPr>
          <p:nvPr>
            <p:ph type="title"/>
          </p:nvPr>
        </p:nvSpPr>
        <p:spPr/>
        <p:txBody>
          <a:bodyPr>
            <a:normAutofit fontScale="90000"/>
          </a:bodyPr>
          <a:lstStyle/>
          <a:p>
            <a:r>
              <a:rPr lang="en-US" dirty="0"/>
              <a:t>Approve sample remakes</a:t>
            </a:r>
          </a:p>
        </p:txBody>
      </p:sp>
      <p:sp>
        <p:nvSpPr>
          <p:cNvPr id="14" name="TextBox 13">
            <a:extLst>
              <a:ext uri="{FF2B5EF4-FFF2-40B4-BE49-F238E27FC236}">
                <a16:creationId xmlns:a16="http://schemas.microsoft.com/office/drawing/2014/main" id="{7DC3F017-64CA-EE8E-8C22-82FB3595FEB4}"/>
              </a:ext>
            </a:extLst>
          </p:cNvPr>
          <p:cNvSpPr txBox="1"/>
          <p:nvPr/>
        </p:nvSpPr>
        <p:spPr>
          <a:xfrm>
            <a:off x="4369166" y="1002034"/>
            <a:ext cx="3707187" cy="461665"/>
          </a:xfrm>
          <a:prstGeom prst="rect">
            <a:avLst/>
          </a:prstGeom>
          <a:noFill/>
        </p:spPr>
        <p:txBody>
          <a:bodyPr wrap="square" rtlCol="0">
            <a:spAutoFit/>
          </a:bodyPr>
          <a:lstStyle/>
          <a:p>
            <a:r>
              <a:rPr lang="en-US" sz="1200" dirty="0">
                <a:solidFill>
                  <a:schemeClr val="accent5">
                    <a:lumMod val="60000"/>
                    <a:lumOff val="40000"/>
                  </a:schemeClr>
                </a:solidFill>
              </a:rPr>
              <a:t>This is an approver-only page. The only samples shown here are those with a pending remake request</a:t>
            </a:r>
          </a:p>
        </p:txBody>
      </p:sp>
      <p:sp>
        <p:nvSpPr>
          <p:cNvPr id="6" name="TextBox 5">
            <a:extLst>
              <a:ext uri="{FF2B5EF4-FFF2-40B4-BE49-F238E27FC236}">
                <a16:creationId xmlns:a16="http://schemas.microsoft.com/office/drawing/2014/main" id="{8C643243-B392-70A2-A4FF-E518F50CB843}"/>
              </a:ext>
            </a:extLst>
          </p:cNvPr>
          <p:cNvSpPr txBox="1"/>
          <p:nvPr/>
        </p:nvSpPr>
        <p:spPr>
          <a:xfrm>
            <a:off x="9563181" y="1791997"/>
            <a:ext cx="1422715" cy="553998"/>
          </a:xfrm>
          <a:prstGeom prst="rect">
            <a:avLst/>
          </a:prstGeom>
          <a:noFill/>
        </p:spPr>
        <p:txBody>
          <a:bodyPr wrap="square" rtlCol="0">
            <a:spAutoFit/>
          </a:bodyPr>
          <a:lstStyle/>
          <a:p>
            <a:r>
              <a:rPr lang="en-US" sz="1000" dirty="0">
                <a:solidFill>
                  <a:schemeClr val="accent5">
                    <a:lumMod val="60000"/>
                    <a:lumOff val="40000"/>
                  </a:schemeClr>
                </a:solidFill>
              </a:rPr>
              <a:t>Deny remake</a:t>
            </a:r>
          </a:p>
          <a:p>
            <a:r>
              <a:rPr lang="en-US" sz="1000" dirty="0">
                <a:solidFill>
                  <a:schemeClr val="accent5">
                    <a:lumMod val="60000"/>
                    <a:lumOff val="40000"/>
                  </a:schemeClr>
                </a:solidFill>
              </a:rPr>
              <a:t>Approve remake</a:t>
            </a:r>
          </a:p>
          <a:p>
            <a:r>
              <a:rPr lang="en-US" sz="1000" dirty="0">
                <a:solidFill>
                  <a:schemeClr val="accent5">
                    <a:lumMod val="60000"/>
                    <a:lumOff val="40000"/>
                  </a:schemeClr>
                </a:solidFill>
              </a:rPr>
              <a:t>See details</a:t>
            </a:r>
          </a:p>
        </p:txBody>
      </p:sp>
      <p:grpSp>
        <p:nvGrpSpPr>
          <p:cNvPr id="8" name="Group 7">
            <a:extLst>
              <a:ext uri="{FF2B5EF4-FFF2-40B4-BE49-F238E27FC236}">
                <a16:creationId xmlns:a16="http://schemas.microsoft.com/office/drawing/2014/main" id="{E0E75829-55F4-1692-515E-7340340909FB}"/>
              </a:ext>
            </a:extLst>
          </p:cNvPr>
          <p:cNvGrpSpPr/>
          <p:nvPr/>
        </p:nvGrpSpPr>
        <p:grpSpPr>
          <a:xfrm>
            <a:off x="10442967" y="1924050"/>
            <a:ext cx="872729" cy="765630"/>
            <a:chOff x="10796588" y="2009775"/>
            <a:chExt cx="614362" cy="638175"/>
          </a:xfrm>
        </p:grpSpPr>
        <p:cxnSp>
          <p:nvCxnSpPr>
            <p:cNvPr id="12" name="Straight Connector 11">
              <a:extLst>
                <a:ext uri="{FF2B5EF4-FFF2-40B4-BE49-F238E27FC236}">
                  <a16:creationId xmlns:a16="http://schemas.microsoft.com/office/drawing/2014/main" id="{59EAD4F3-298C-D590-1F71-9B6E26684017}"/>
                </a:ext>
              </a:extLst>
            </p:cNvPr>
            <p:cNvCxnSpPr>
              <a:cxnSpLocks/>
            </p:cNvCxnSpPr>
            <p:nvPr/>
          </p:nvCxnSpPr>
          <p:spPr>
            <a:xfrm>
              <a:off x="10796588" y="2009775"/>
              <a:ext cx="61436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54278BC9-3E55-6F97-6D57-F904DDE694C3}"/>
                </a:ext>
              </a:extLst>
            </p:cNvPr>
            <p:cNvCxnSpPr>
              <a:cxnSpLocks/>
            </p:cNvCxnSpPr>
            <p:nvPr/>
          </p:nvCxnSpPr>
          <p:spPr>
            <a:xfrm>
              <a:off x="11410950" y="2014538"/>
              <a:ext cx="0" cy="6334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7" name="Group 16">
            <a:extLst>
              <a:ext uri="{FF2B5EF4-FFF2-40B4-BE49-F238E27FC236}">
                <a16:creationId xmlns:a16="http://schemas.microsoft.com/office/drawing/2014/main" id="{D3E2F324-2F3A-F25C-5291-7E8457A48C39}"/>
              </a:ext>
            </a:extLst>
          </p:cNvPr>
          <p:cNvGrpSpPr/>
          <p:nvPr/>
        </p:nvGrpSpPr>
        <p:grpSpPr>
          <a:xfrm>
            <a:off x="10560844" y="2056105"/>
            <a:ext cx="552450" cy="633576"/>
            <a:chOff x="10796588" y="2009775"/>
            <a:chExt cx="614362" cy="638175"/>
          </a:xfrm>
        </p:grpSpPr>
        <p:cxnSp>
          <p:nvCxnSpPr>
            <p:cNvPr id="18" name="Straight Connector 17">
              <a:extLst>
                <a:ext uri="{FF2B5EF4-FFF2-40B4-BE49-F238E27FC236}">
                  <a16:creationId xmlns:a16="http://schemas.microsoft.com/office/drawing/2014/main" id="{A186BADC-E5E6-BA2F-EA82-987787445D94}"/>
                </a:ext>
              </a:extLst>
            </p:cNvPr>
            <p:cNvCxnSpPr/>
            <p:nvPr/>
          </p:nvCxnSpPr>
          <p:spPr>
            <a:xfrm>
              <a:off x="10796588" y="2009775"/>
              <a:ext cx="61436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C70B0B01-92FD-D24E-AF19-0963319D7A91}"/>
                </a:ext>
              </a:extLst>
            </p:cNvPr>
            <p:cNvCxnSpPr/>
            <p:nvPr/>
          </p:nvCxnSpPr>
          <p:spPr>
            <a:xfrm>
              <a:off x="11410950" y="2014538"/>
              <a:ext cx="0" cy="6334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69CE8117-0DB4-4834-3698-DBD4E6685683}"/>
              </a:ext>
            </a:extLst>
          </p:cNvPr>
          <p:cNvGrpSpPr/>
          <p:nvPr/>
        </p:nvGrpSpPr>
        <p:grpSpPr>
          <a:xfrm>
            <a:off x="10274539" y="2222486"/>
            <a:ext cx="614358" cy="467187"/>
            <a:chOff x="10796588" y="2009775"/>
            <a:chExt cx="614362" cy="638175"/>
          </a:xfrm>
        </p:grpSpPr>
        <p:cxnSp>
          <p:nvCxnSpPr>
            <p:cNvPr id="21" name="Straight Connector 20">
              <a:extLst>
                <a:ext uri="{FF2B5EF4-FFF2-40B4-BE49-F238E27FC236}">
                  <a16:creationId xmlns:a16="http://schemas.microsoft.com/office/drawing/2014/main" id="{028E3089-6D46-F716-E0D5-5E87A3762946}"/>
                </a:ext>
              </a:extLst>
            </p:cNvPr>
            <p:cNvCxnSpPr/>
            <p:nvPr/>
          </p:nvCxnSpPr>
          <p:spPr>
            <a:xfrm>
              <a:off x="10796588" y="2009775"/>
              <a:ext cx="61436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1FEAFD57-3928-3182-C922-958BCB465A9D}"/>
                </a:ext>
              </a:extLst>
            </p:cNvPr>
            <p:cNvCxnSpPr/>
            <p:nvPr/>
          </p:nvCxnSpPr>
          <p:spPr>
            <a:xfrm>
              <a:off x="11410950" y="2014538"/>
              <a:ext cx="0" cy="6334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7032926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67857-5705-5233-8621-600012F829A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312C392-30AA-5DE0-C931-7C0DF10EFCA1}"/>
              </a:ext>
            </a:extLst>
          </p:cNvPr>
          <p:cNvPicPr>
            <a:picLocks noChangeAspect="1"/>
          </p:cNvPicPr>
          <p:nvPr/>
        </p:nvPicPr>
        <p:blipFill>
          <a:blip r:embed="rId2"/>
          <a:stretch>
            <a:fillRect/>
          </a:stretch>
        </p:blipFill>
        <p:spPr>
          <a:xfrm>
            <a:off x="311085" y="905060"/>
            <a:ext cx="11557261" cy="5772586"/>
          </a:xfrm>
          <a:prstGeom prst="rect">
            <a:avLst/>
          </a:prstGeom>
        </p:spPr>
      </p:pic>
      <p:sp>
        <p:nvSpPr>
          <p:cNvPr id="2" name="Title 1">
            <a:extLst>
              <a:ext uri="{FF2B5EF4-FFF2-40B4-BE49-F238E27FC236}">
                <a16:creationId xmlns:a16="http://schemas.microsoft.com/office/drawing/2014/main" id="{83CAF45F-3A8D-00CD-7E8B-3230BFA26EDA}"/>
              </a:ext>
            </a:extLst>
          </p:cNvPr>
          <p:cNvSpPr>
            <a:spLocks noGrp="1"/>
          </p:cNvSpPr>
          <p:nvPr>
            <p:ph type="title"/>
          </p:nvPr>
        </p:nvSpPr>
        <p:spPr/>
        <p:txBody>
          <a:bodyPr>
            <a:normAutofit fontScale="90000"/>
          </a:bodyPr>
          <a:lstStyle/>
          <a:p>
            <a:r>
              <a:rPr lang="en-US" dirty="0"/>
              <a:t>Approving a remake</a:t>
            </a:r>
          </a:p>
        </p:txBody>
      </p:sp>
      <p:sp>
        <p:nvSpPr>
          <p:cNvPr id="4" name="TextBox 3">
            <a:extLst>
              <a:ext uri="{FF2B5EF4-FFF2-40B4-BE49-F238E27FC236}">
                <a16:creationId xmlns:a16="http://schemas.microsoft.com/office/drawing/2014/main" id="{F33FD550-8542-DEDD-FCED-49A50F2F22E6}"/>
              </a:ext>
            </a:extLst>
          </p:cNvPr>
          <p:cNvSpPr txBox="1"/>
          <p:nvPr/>
        </p:nvSpPr>
        <p:spPr>
          <a:xfrm>
            <a:off x="3437508" y="889108"/>
            <a:ext cx="5316983" cy="276999"/>
          </a:xfrm>
          <a:prstGeom prst="rect">
            <a:avLst/>
          </a:prstGeom>
          <a:noFill/>
        </p:spPr>
        <p:txBody>
          <a:bodyPr wrap="square" rtlCol="0">
            <a:spAutoFit/>
          </a:bodyPr>
          <a:lstStyle/>
          <a:p>
            <a:r>
              <a:rPr lang="en-US" sz="1200" dirty="0">
                <a:solidFill>
                  <a:schemeClr val="accent5">
                    <a:lumMod val="60000"/>
                    <a:lumOff val="40000"/>
                  </a:schemeClr>
                </a:solidFill>
              </a:rPr>
              <a:t>Pressing the approve button for a sample opens this confirmation card</a:t>
            </a:r>
          </a:p>
        </p:txBody>
      </p:sp>
      <p:sp>
        <p:nvSpPr>
          <p:cNvPr id="11" name="TextBox 10">
            <a:extLst>
              <a:ext uri="{FF2B5EF4-FFF2-40B4-BE49-F238E27FC236}">
                <a16:creationId xmlns:a16="http://schemas.microsoft.com/office/drawing/2014/main" id="{EFD594B1-BFFE-75A5-2368-599DC3FCBD50}"/>
              </a:ext>
            </a:extLst>
          </p:cNvPr>
          <p:cNvSpPr txBox="1"/>
          <p:nvPr/>
        </p:nvSpPr>
        <p:spPr>
          <a:xfrm>
            <a:off x="9030878" y="1166107"/>
            <a:ext cx="2667786" cy="1015663"/>
          </a:xfrm>
          <a:prstGeom prst="rect">
            <a:avLst/>
          </a:prstGeom>
          <a:noFill/>
        </p:spPr>
        <p:txBody>
          <a:bodyPr wrap="square" rtlCol="0">
            <a:spAutoFit/>
          </a:bodyPr>
          <a:lstStyle/>
          <a:p>
            <a:r>
              <a:rPr lang="en-US" sz="1200" b="1" dirty="0">
                <a:solidFill>
                  <a:schemeClr val="accent5">
                    <a:lumMod val="60000"/>
                    <a:lumOff val="40000"/>
                  </a:schemeClr>
                </a:solidFill>
              </a:rPr>
              <a:t>Important</a:t>
            </a:r>
            <a:r>
              <a:rPr lang="en-US" sz="1200" dirty="0">
                <a:solidFill>
                  <a:schemeClr val="accent5">
                    <a:lumMod val="60000"/>
                    <a:lumOff val="40000"/>
                  </a:schemeClr>
                </a:solidFill>
              </a:rPr>
              <a:t>: this does not actually create a new sample, it just takes the current one out of circulation. The new sample should be created using the Create Sample page</a:t>
            </a:r>
          </a:p>
        </p:txBody>
      </p:sp>
    </p:spTree>
    <p:extLst>
      <p:ext uri="{BB962C8B-B14F-4D97-AF65-F5344CB8AC3E}">
        <p14:creationId xmlns:p14="http://schemas.microsoft.com/office/powerpoint/2010/main" val="12465708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52BFB-82AF-60B5-1013-80B8E6B787E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C766A16-854C-2959-C7FD-64D3799C6B00}"/>
              </a:ext>
            </a:extLst>
          </p:cNvPr>
          <p:cNvPicPr>
            <a:picLocks noChangeAspect="1"/>
          </p:cNvPicPr>
          <p:nvPr/>
        </p:nvPicPr>
        <p:blipFill>
          <a:blip r:embed="rId2"/>
          <a:stretch>
            <a:fillRect/>
          </a:stretch>
        </p:blipFill>
        <p:spPr>
          <a:xfrm>
            <a:off x="301658" y="905060"/>
            <a:ext cx="11594969" cy="5779273"/>
          </a:xfrm>
          <a:prstGeom prst="rect">
            <a:avLst/>
          </a:prstGeom>
        </p:spPr>
      </p:pic>
      <p:sp>
        <p:nvSpPr>
          <p:cNvPr id="2" name="Title 1">
            <a:extLst>
              <a:ext uri="{FF2B5EF4-FFF2-40B4-BE49-F238E27FC236}">
                <a16:creationId xmlns:a16="http://schemas.microsoft.com/office/drawing/2014/main" id="{52B69F60-9C19-A27C-7274-A481732683E8}"/>
              </a:ext>
            </a:extLst>
          </p:cNvPr>
          <p:cNvSpPr>
            <a:spLocks noGrp="1"/>
          </p:cNvSpPr>
          <p:nvPr>
            <p:ph type="title"/>
          </p:nvPr>
        </p:nvSpPr>
        <p:spPr/>
        <p:txBody>
          <a:bodyPr>
            <a:normAutofit fontScale="90000"/>
          </a:bodyPr>
          <a:lstStyle/>
          <a:p>
            <a:r>
              <a:rPr lang="en-US" dirty="0"/>
              <a:t>Successful remake approval</a:t>
            </a:r>
          </a:p>
        </p:txBody>
      </p:sp>
      <p:sp>
        <p:nvSpPr>
          <p:cNvPr id="4" name="TextBox 3">
            <a:extLst>
              <a:ext uri="{FF2B5EF4-FFF2-40B4-BE49-F238E27FC236}">
                <a16:creationId xmlns:a16="http://schemas.microsoft.com/office/drawing/2014/main" id="{8750F891-F676-7D0E-3642-997FB21904A5}"/>
              </a:ext>
            </a:extLst>
          </p:cNvPr>
          <p:cNvSpPr txBox="1"/>
          <p:nvPr/>
        </p:nvSpPr>
        <p:spPr>
          <a:xfrm>
            <a:off x="3437508" y="889108"/>
            <a:ext cx="5316983" cy="276999"/>
          </a:xfrm>
          <a:prstGeom prst="rect">
            <a:avLst/>
          </a:prstGeom>
          <a:noFill/>
        </p:spPr>
        <p:txBody>
          <a:bodyPr wrap="square" rtlCol="0">
            <a:spAutoFit/>
          </a:bodyPr>
          <a:lstStyle/>
          <a:p>
            <a:r>
              <a:rPr lang="en-US" sz="1200" dirty="0">
                <a:solidFill>
                  <a:schemeClr val="accent5">
                    <a:lumMod val="60000"/>
                    <a:lumOff val="40000"/>
                  </a:schemeClr>
                </a:solidFill>
              </a:rPr>
              <a:t>Confirming approval hides it from this screen and shows the success toast.</a:t>
            </a:r>
          </a:p>
        </p:txBody>
      </p:sp>
      <p:sp>
        <p:nvSpPr>
          <p:cNvPr id="11" name="TextBox 10">
            <a:extLst>
              <a:ext uri="{FF2B5EF4-FFF2-40B4-BE49-F238E27FC236}">
                <a16:creationId xmlns:a16="http://schemas.microsoft.com/office/drawing/2014/main" id="{215601CF-144B-D7D1-6124-4B0CD72CDBF9}"/>
              </a:ext>
            </a:extLst>
          </p:cNvPr>
          <p:cNvSpPr txBox="1"/>
          <p:nvPr/>
        </p:nvSpPr>
        <p:spPr>
          <a:xfrm>
            <a:off x="3173035" y="1470753"/>
            <a:ext cx="5830377" cy="461665"/>
          </a:xfrm>
          <a:prstGeom prst="rect">
            <a:avLst/>
          </a:prstGeom>
          <a:noFill/>
        </p:spPr>
        <p:txBody>
          <a:bodyPr wrap="square" rtlCol="0">
            <a:spAutoFit/>
          </a:bodyPr>
          <a:lstStyle/>
          <a:p>
            <a:r>
              <a:rPr lang="en-US" sz="1200" dirty="0">
                <a:solidFill>
                  <a:schemeClr val="accent5">
                    <a:lumMod val="60000"/>
                    <a:lumOff val="40000"/>
                  </a:schemeClr>
                </a:solidFill>
              </a:rPr>
              <a:t>I will reiterate, this does not actually create a new sample, it just takes the current one out of circulation. The new sample should be created using the Create Sample page</a:t>
            </a:r>
          </a:p>
        </p:txBody>
      </p:sp>
    </p:spTree>
    <p:extLst>
      <p:ext uri="{BB962C8B-B14F-4D97-AF65-F5344CB8AC3E}">
        <p14:creationId xmlns:p14="http://schemas.microsoft.com/office/powerpoint/2010/main" val="11020094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C5437-B032-46BE-8C6E-92FB7ED12D3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C6B8619-6340-5156-1751-FC1E564C346E}"/>
              </a:ext>
            </a:extLst>
          </p:cNvPr>
          <p:cNvPicPr>
            <a:picLocks noChangeAspect="1"/>
          </p:cNvPicPr>
          <p:nvPr/>
        </p:nvPicPr>
        <p:blipFill>
          <a:blip r:embed="rId3"/>
          <a:stretch>
            <a:fillRect/>
          </a:stretch>
        </p:blipFill>
        <p:spPr>
          <a:xfrm>
            <a:off x="273377" y="902009"/>
            <a:ext cx="11594969" cy="5745911"/>
          </a:xfrm>
          <a:prstGeom prst="rect">
            <a:avLst/>
          </a:prstGeom>
        </p:spPr>
      </p:pic>
      <p:sp>
        <p:nvSpPr>
          <p:cNvPr id="2" name="Title 1">
            <a:extLst>
              <a:ext uri="{FF2B5EF4-FFF2-40B4-BE49-F238E27FC236}">
                <a16:creationId xmlns:a16="http://schemas.microsoft.com/office/drawing/2014/main" id="{15448448-01BA-59FB-D8F3-BAA926C195D1}"/>
              </a:ext>
            </a:extLst>
          </p:cNvPr>
          <p:cNvSpPr>
            <a:spLocks noGrp="1"/>
          </p:cNvSpPr>
          <p:nvPr>
            <p:ph type="title"/>
          </p:nvPr>
        </p:nvSpPr>
        <p:spPr/>
        <p:txBody>
          <a:bodyPr>
            <a:normAutofit fontScale="90000"/>
          </a:bodyPr>
          <a:lstStyle/>
          <a:p>
            <a:r>
              <a:rPr lang="en-US" dirty="0"/>
              <a:t>Denying a remake</a:t>
            </a:r>
          </a:p>
        </p:txBody>
      </p:sp>
      <p:sp>
        <p:nvSpPr>
          <p:cNvPr id="5" name="TextBox 4">
            <a:extLst>
              <a:ext uri="{FF2B5EF4-FFF2-40B4-BE49-F238E27FC236}">
                <a16:creationId xmlns:a16="http://schemas.microsoft.com/office/drawing/2014/main" id="{4A281846-F328-178E-9A2C-71311D73239A}"/>
              </a:ext>
            </a:extLst>
          </p:cNvPr>
          <p:cNvSpPr txBox="1"/>
          <p:nvPr/>
        </p:nvSpPr>
        <p:spPr>
          <a:xfrm>
            <a:off x="4680802" y="2023799"/>
            <a:ext cx="2634398" cy="400110"/>
          </a:xfrm>
          <a:prstGeom prst="rect">
            <a:avLst/>
          </a:prstGeom>
          <a:noFill/>
        </p:spPr>
        <p:txBody>
          <a:bodyPr wrap="square" rtlCol="0">
            <a:spAutoFit/>
          </a:bodyPr>
          <a:lstStyle/>
          <a:p>
            <a:r>
              <a:rPr lang="en-US" sz="1000" dirty="0">
                <a:solidFill>
                  <a:schemeClr val="accent5">
                    <a:lumMod val="60000"/>
                    <a:lumOff val="40000"/>
                  </a:schemeClr>
                </a:solidFill>
              </a:rPr>
              <a:t>Press cancel to take no action, or remove to deny the remake</a:t>
            </a:r>
          </a:p>
        </p:txBody>
      </p:sp>
    </p:spTree>
    <p:extLst>
      <p:ext uri="{BB962C8B-B14F-4D97-AF65-F5344CB8AC3E}">
        <p14:creationId xmlns:p14="http://schemas.microsoft.com/office/powerpoint/2010/main" val="13312157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7669C-4877-7FBA-5DC3-BCD8FACCF3D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D3CCFF1-8067-EB04-6CF4-DD40F1F52E7C}"/>
              </a:ext>
            </a:extLst>
          </p:cNvPr>
          <p:cNvPicPr>
            <a:picLocks noChangeAspect="1"/>
          </p:cNvPicPr>
          <p:nvPr/>
        </p:nvPicPr>
        <p:blipFill>
          <a:blip r:embed="rId3"/>
          <a:stretch>
            <a:fillRect/>
          </a:stretch>
        </p:blipFill>
        <p:spPr>
          <a:xfrm>
            <a:off x="301657" y="905060"/>
            <a:ext cx="11566689" cy="5789412"/>
          </a:xfrm>
          <a:prstGeom prst="rect">
            <a:avLst/>
          </a:prstGeom>
        </p:spPr>
      </p:pic>
      <p:sp>
        <p:nvSpPr>
          <p:cNvPr id="2" name="Title 1">
            <a:extLst>
              <a:ext uri="{FF2B5EF4-FFF2-40B4-BE49-F238E27FC236}">
                <a16:creationId xmlns:a16="http://schemas.microsoft.com/office/drawing/2014/main" id="{B2F5AEA8-96B2-4C0E-D4D0-375F515DC56B}"/>
              </a:ext>
            </a:extLst>
          </p:cNvPr>
          <p:cNvSpPr>
            <a:spLocks noGrp="1"/>
          </p:cNvSpPr>
          <p:nvPr>
            <p:ph type="title"/>
          </p:nvPr>
        </p:nvSpPr>
        <p:spPr/>
        <p:txBody>
          <a:bodyPr>
            <a:normAutofit fontScale="90000"/>
          </a:bodyPr>
          <a:lstStyle/>
          <a:p>
            <a:r>
              <a:rPr lang="en-US" dirty="0"/>
              <a:t>Successful remake denial</a:t>
            </a:r>
          </a:p>
        </p:txBody>
      </p:sp>
      <p:sp>
        <p:nvSpPr>
          <p:cNvPr id="5" name="TextBox 4">
            <a:extLst>
              <a:ext uri="{FF2B5EF4-FFF2-40B4-BE49-F238E27FC236}">
                <a16:creationId xmlns:a16="http://schemas.microsoft.com/office/drawing/2014/main" id="{A006967A-1AFB-4F79-F916-82E74A1BB648}"/>
              </a:ext>
            </a:extLst>
          </p:cNvPr>
          <p:cNvSpPr txBox="1"/>
          <p:nvPr/>
        </p:nvSpPr>
        <p:spPr>
          <a:xfrm>
            <a:off x="4778801" y="996278"/>
            <a:ext cx="2634398" cy="461665"/>
          </a:xfrm>
          <a:prstGeom prst="rect">
            <a:avLst/>
          </a:prstGeom>
          <a:noFill/>
        </p:spPr>
        <p:txBody>
          <a:bodyPr wrap="square" rtlCol="0">
            <a:spAutoFit/>
          </a:bodyPr>
          <a:lstStyle/>
          <a:p>
            <a:r>
              <a:rPr lang="en-US" sz="1200" dirty="0">
                <a:solidFill>
                  <a:schemeClr val="accent5">
                    <a:lumMod val="60000"/>
                    <a:lumOff val="40000"/>
                  </a:schemeClr>
                </a:solidFill>
              </a:rPr>
              <a:t>Denying a remake will hide it from the page and show the success toast.</a:t>
            </a:r>
          </a:p>
        </p:txBody>
      </p:sp>
    </p:spTree>
    <p:extLst>
      <p:ext uri="{BB962C8B-B14F-4D97-AF65-F5344CB8AC3E}">
        <p14:creationId xmlns:p14="http://schemas.microsoft.com/office/powerpoint/2010/main" val="17052541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6839B491-29C4-40FE-B7E5-6C2ED8488D26}" vid="{BF49CCC8-C85E-4EC7-A8B6-D0BBC1EE539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TMM Presentation Template</Template>
  <TotalTime>17223</TotalTime>
  <Words>2101</Words>
  <Application>Microsoft Office PowerPoint</Application>
  <PresentationFormat>Widescreen</PresentationFormat>
  <Paragraphs>156</Paragraphs>
  <Slides>40</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Aptos</vt:lpstr>
      <vt:lpstr>Arial</vt:lpstr>
      <vt:lpstr>Calibri</vt:lpstr>
      <vt:lpstr>Courier New</vt:lpstr>
      <vt:lpstr>Wingdings</vt:lpstr>
      <vt:lpstr>Office Theme</vt:lpstr>
      <vt:lpstr>PowerPoint Presentation</vt:lpstr>
      <vt:lpstr>Running the program</vt:lpstr>
      <vt:lpstr>The .bat file</vt:lpstr>
      <vt:lpstr>The .exe file</vt:lpstr>
      <vt:lpstr>Table of Contents</vt:lpstr>
      <vt:lpstr>Navigation bar</vt:lpstr>
      <vt:lpstr>Splash screen/sample creation</vt:lpstr>
      <vt:lpstr>Sample creation</vt:lpstr>
      <vt:lpstr>Sample creation</vt:lpstr>
      <vt:lpstr>Successful sample creation</vt:lpstr>
      <vt:lpstr>Print mode</vt:lpstr>
      <vt:lpstr>During a print</vt:lpstr>
      <vt:lpstr>Failed print</vt:lpstr>
      <vt:lpstr>Upload model mappings</vt:lpstr>
      <vt:lpstr>CSV upload confirmation</vt:lpstr>
      <vt:lpstr>CSV upload progress updates</vt:lpstr>
      <vt:lpstr>Upload FP data sheets</vt:lpstr>
      <vt:lpstr>Confirm file selection</vt:lpstr>
      <vt:lpstr>Specify model name</vt:lpstr>
      <vt:lpstr>Apply column filter</vt:lpstr>
      <vt:lpstr>Single-row duplicate</vt:lpstr>
      <vt:lpstr>Repeating for a different subtype</vt:lpstr>
      <vt:lpstr>PowerPoint Presentation</vt:lpstr>
      <vt:lpstr>Full-subtype/file duplicate</vt:lpstr>
      <vt:lpstr>More files</vt:lpstr>
      <vt:lpstr>More files (cont.)</vt:lpstr>
      <vt:lpstr>FP data sheet upload summary</vt:lpstr>
      <vt:lpstr>Approve samples</vt:lpstr>
      <vt:lpstr>Picking an expiration date</vt:lpstr>
      <vt:lpstr>Successful sample approval</vt:lpstr>
      <vt:lpstr>Line update</vt:lpstr>
      <vt:lpstr>Successful line removal</vt:lpstr>
      <vt:lpstr>Request sample remakes</vt:lpstr>
      <vt:lpstr>Remake request form</vt:lpstr>
      <vt:lpstr>Successful remake request</vt:lpstr>
      <vt:lpstr>Approve sample remakes</vt:lpstr>
      <vt:lpstr>Approving a remake</vt:lpstr>
      <vt:lpstr>Successful remake approval</vt:lpstr>
      <vt:lpstr>Denying a remake</vt:lpstr>
      <vt:lpstr>Successful remake denial</vt:lpstr>
    </vt:vector>
  </TitlesOfParts>
  <Company>Office365 Base Installer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 &amp; Safety  Announcements</dc:title>
  <dc:creator>Wendy Cromer</dc:creator>
  <cp:lastModifiedBy>Eric McKay</cp:lastModifiedBy>
  <cp:revision>660</cp:revision>
  <dcterms:created xsi:type="dcterms:W3CDTF">2024-08-13T13:38:02Z</dcterms:created>
  <dcterms:modified xsi:type="dcterms:W3CDTF">2026-08-05T16:06:57Z</dcterms:modified>
</cp:coreProperties>
</file>